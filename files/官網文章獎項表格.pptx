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304" r:id="rId32"/>
    <p:sldId id="287" r:id="rId33"/>
    <p:sldId id="302" r:id="rId34"/>
    <p:sldId id="301" r:id="rId35"/>
    <p:sldId id="288" r:id="rId36"/>
    <p:sldId id="289" r:id="rId37"/>
    <p:sldId id="290" r:id="rId38"/>
    <p:sldId id="295" r:id="rId39"/>
    <p:sldId id="296" r:id="rId40"/>
    <p:sldId id="307" r:id="rId41"/>
    <p:sldId id="303" r:id="rId42"/>
    <p:sldId id="299" r:id="rId43"/>
    <p:sldId id="306" r:id="rId44"/>
    <p:sldId id="305" r:id="rId45"/>
    <p:sldId id="297" r:id="rId46"/>
    <p:sldId id="300" r:id="rId47"/>
    <p:sldId id="298" r:id="rId4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izslc811Az17D5yPAYBwnW5bla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9E7"/>
    <a:srgbClr val="FCDCCE"/>
    <a:srgbClr val="F2DADA"/>
    <a:srgbClr val="FDEEE8"/>
    <a:srgbClr val="FFFFCC"/>
    <a:srgbClr val="595959"/>
    <a:srgbClr val="F2F2F2"/>
    <a:srgbClr val="860000"/>
    <a:srgbClr val="BDE4B6"/>
    <a:srgbClr val="E3E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472437-90DF-4266-8D30-FEE34006E03D}">
  <a:tblStyle styleId="{9C472437-90DF-4266-8D30-FEE34006E03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EEE8"/>
          </a:solidFill>
        </a:fill>
      </a:tcStyle>
    </a:wholeTbl>
    <a:band1H>
      <a:tcTxStyle/>
      <a:tcStyle>
        <a:tcBdr/>
        <a:fill>
          <a:solidFill>
            <a:srgbClr val="FCDC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CDC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72D902-E15E-474F-8490-793B290529E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77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720f71469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2720f71469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2720f71469b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1df854c2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271df854c2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7098471c7d_4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27098471c7d_4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5DF5CEC4-AB7B-2C3E-4C3D-71AEB8E0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7098471c7d_4_24:notes">
            <a:extLst>
              <a:ext uri="{FF2B5EF4-FFF2-40B4-BE49-F238E27FC236}">
                <a16:creationId xmlns:a16="http://schemas.microsoft.com/office/drawing/2014/main" id="{3A546A0F-FE33-179A-9A92-10669E89D5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27098471c7d_4_24:notes">
            <a:extLst>
              <a:ext uri="{FF2B5EF4-FFF2-40B4-BE49-F238E27FC236}">
                <a16:creationId xmlns:a16="http://schemas.microsoft.com/office/drawing/2014/main" id="{B25F0817-BB1D-E6F9-C617-65A223E625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28781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>
          <a:extLst>
            <a:ext uri="{FF2B5EF4-FFF2-40B4-BE49-F238E27FC236}">
              <a16:creationId xmlns:a16="http://schemas.microsoft.com/office/drawing/2014/main" id="{111411F4-B243-DDE6-D453-A7E2D2AE2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8:notes">
            <a:extLst>
              <a:ext uri="{FF2B5EF4-FFF2-40B4-BE49-F238E27FC236}">
                <a16:creationId xmlns:a16="http://schemas.microsoft.com/office/drawing/2014/main" id="{624F0E0F-27D6-FFD5-FE62-DF45707478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88:notes">
            <a:extLst>
              <a:ext uri="{FF2B5EF4-FFF2-40B4-BE49-F238E27FC236}">
                <a16:creationId xmlns:a16="http://schemas.microsoft.com/office/drawing/2014/main" id="{DCC855D2-991F-7D46-62C8-FEBF7E31F0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4023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11957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7098471c7d_6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27098471c7d_6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7098471c7d_6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g27098471c7d_6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7098471c7d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27098471c7d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>
          <a:extLst>
            <a:ext uri="{FF2B5EF4-FFF2-40B4-BE49-F238E27FC236}">
              <a16:creationId xmlns:a16="http://schemas.microsoft.com/office/drawing/2014/main" id="{4EAA1D02-9F7D-BC8C-8A26-0FB1B00F7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7098471c7d_6_0:notes">
            <a:extLst>
              <a:ext uri="{FF2B5EF4-FFF2-40B4-BE49-F238E27FC236}">
                <a16:creationId xmlns:a16="http://schemas.microsoft.com/office/drawing/2014/main" id="{B4B150AA-C9C8-CCCD-FA1A-535AD173AD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27098471c7d_6_0:notes">
            <a:extLst>
              <a:ext uri="{FF2B5EF4-FFF2-40B4-BE49-F238E27FC236}">
                <a16:creationId xmlns:a16="http://schemas.microsoft.com/office/drawing/2014/main" id="{30942576-7992-90EC-40A9-7600BB85D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30998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>
          <a:extLst>
            <a:ext uri="{FF2B5EF4-FFF2-40B4-BE49-F238E27FC236}">
              <a16:creationId xmlns:a16="http://schemas.microsoft.com/office/drawing/2014/main" id="{60680FEF-6C5E-F920-30B6-31709F0F7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7098471c7d_6_0:notes">
            <a:extLst>
              <a:ext uri="{FF2B5EF4-FFF2-40B4-BE49-F238E27FC236}">
                <a16:creationId xmlns:a16="http://schemas.microsoft.com/office/drawing/2014/main" id="{6BC58FC7-3F22-0A64-20A0-3777C9319E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27098471c7d_6_0:notes">
            <a:extLst>
              <a:ext uri="{FF2B5EF4-FFF2-40B4-BE49-F238E27FC236}">
                <a16:creationId xmlns:a16="http://schemas.microsoft.com/office/drawing/2014/main" id="{398F0B4A-872D-1A95-1E30-CDA60F64A1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82696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7098471c7d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27098471c7d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1390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>
          <a:extLst>
            <a:ext uri="{FF2B5EF4-FFF2-40B4-BE49-F238E27FC236}">
              <a16:creationId xmlns:a16="http://schemas.microsoft.com/office/drawing/2014/main" id="{16F4DA3C-481D-DA98-BF8B-7025AF991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7098471c7d_6_0:notes">
            <a:extLst>
              <a:ext uri="{FF2B5EF4-FFF2-40B4-BE49-F238E27FC236}">
                <a16:creationId xmlns:a16="http://schemas.microsoft.com/office/drawing/2014/main" id="{8B86C13B-6594-7A81-E121-05FFDB90B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27098471c7d_6_0:notes">
            <a:extLst>
              <a:ext uri="{FF2B5EF4-FFF2-40B4-BE49-F238E27FC236}">
                <a16:creationId xmlns:a16="http://schemas.microsoft.com/office/drawing/2014/main" id="{6B6B33C9-8CAD-B3D6-3CF3-2DB895E03A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822493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>
          <a:extLst>
            <a:ext uri="{FF2B5EF4-FFF2-40B4-BE49-F238E27FC236}">
              <a16:creationId xmlns:a16="http://schemas.microsoft.com/office/drawing/2014/main" id="{857324CB-0BE1-41BF-E87C-87407846F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7098471c7d_6_0:notes">
            <a:extLst>
              <a:ext uri="{FF2B5EF4-FFF2-40B4-BE49-F238E27FC236}">
                <a16:creationId xmlns:a16="http://schemas.microsoft.com/office/drawing/2014/main" id="{1F225D46-53AC-CDEC-FD21-9840CB145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27098471c7d_6_0:notes">
            <a:extLst>
              <a:ext uri="{FF2B5EF4-FFF2-40B4-BE49-F238E27FC236}">
                <a16:creationId xmlns:a16="http://schemas.microsoft.com/office/drawing/2014/main" id="{C8261E15-0687-26E3-E9C3-BB15C21E95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4197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424382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eb6c6281a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g2eb6c6281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0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0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0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0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0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0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0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0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0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0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2"/>
          <p:cNvGraphicFramePr/>
          <p:nvPr>
            <p:extLst>
              <p:ext uri="{D42A27DB-BD31-4B8C-83A1-F6EECF244321}">
                <p14:modId xmlns:p14="http://schemas.microsoft.com/office/powerpoint/2010/main" val="211039578"/>
              </p:ext>
            </p:extLst>
          </p:nvPr>
        </p:nvGraphicFramePr>
        <p:xfrm>
          <a:off x="-1138132" y="980728"/>
          <a:ext cx="5111600" cy="36776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每日累積升級門檻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1,200級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  5星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r>
                        <a:rPr 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4星 </a:t>
                      </a: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威力卡</a:t>
                      </a:r>
                      <a:r>
                        <a:rPr 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1張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  3星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  2星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450級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  1星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  5星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225級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  4星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  3星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  2星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75級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 5星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 4星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 3星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 2星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 1星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體驗廳</a:t>
                      </a:r>
                      <a:r>
                        <a:rPr 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5星 </a:t>
                      </a: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威力卡</a:t>
                      </a:r>
                      <a:r>
                        <a:rPr 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1張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0" name="Google Shape;90;p2"/>
          <p:cNvSpPr txBox="1"/>
          <p:nvPr/>
        </p:nvSpPr>
        <p:spPr>
          <a:xfrm>
            <a:off x="179512" y="116632"/>
            <a:ext cx="187220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天天衝等-卡片</a:t>
            </a:r>
            <a:endParaRPr dirty="0"/>
          </a:p>
        </p:txBody>
      </p:sp>
      <p:graphicFrame>
        <p:nvGraphicFramePr>
          <p:cNvPr id="4" name="Google Shape;89;p2">
            <a:extLst>
              <a:ext uri="{FF2B5EF4-FFF2-40B4-BE49-F238E27FC236}">
                <a16:creationId xmlns:a16="http://schemas.microsoft.com/office/drawing/2014/main" id="{15989283-49F8-49A0-8581-F607D16139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3134181"/>
              </p:ext>
            </p:extLst>
          </p:nvPr>
        </p:nvGraphicFramePr>
        <p:xfrm>
          <a:off x="4745833" y="980728"/>
          <a:ext cx="5111600" cy="48268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每日累積升級門檻s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,</a:t>
                      </a:r>
                      <a:r>
                        <a:rPr lang="en-US" altLang="zh-TW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</a:t>
                      </a: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00級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傳奇廳 </a:t>
                      </a:r>
                      <a:r>
                        <a:rPr lang="en-US" altLang="zh-TW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 威力卡 </a:t>
                      </a:r>
                      <a:r>
                        <a:rPr lang="en-US" altLang="zh-TW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79788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,000級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傳奇廳 </a:t>
                      </a:r>
                      <a:r>
                        <a:rPr lang="en-US" altLang="zh-TW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 威力卡 </a:t>
                      </a:r>
                      <a:r>
                        <a:rPr lang="en-US" altLang="zh-TW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81864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,</a:t>
                      </a:r>
                      <a:r>
                        <a:rPr lang="en-US" altLang="zh-TW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00級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傳奇廳 </a:t>
                      </a:r>
                      <a:r>
                        <a:rPr lang="en-US" altLang="zh-TW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 威力卡 </a:t>
                      </a:r>
                      <a:r>
                        <a:rPr lang="en-US" altLang="zh-TW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733369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,</a:t>
                      </a:r>
                      <a:r>
                        <a:rPr lang="en-US" altLang="zh-TW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00級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傳奇廳 </a:t>
                      </a:r>
                      <a:r>
                        <a:rPr lang="en-US" altLang="zh-TW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 威力卡 </a:t>
                      </a:r>
                      <a:r>
                        <a:rPr lang="en-US" altLang="zh-TW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663684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1,800</a:t>
                      </a:r>
                      <a:r>
                        <a:rPr lang="zh-TW" alt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級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傳奇廳 </a:t>
                      </a:r>
                      <a:r>
                        <a:rPr lang="en-US" altLang="zh-TW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 威力卡 </a:t>
                      </a:r>
                      <a:r>
                        <a:rPr lang="en-US" altLang="zh-TW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92338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1,200級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  5星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1,000級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r>
                        <a:rPr 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4星 </a:t>
                      </a: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威力卡</a:t>
                      </a:r>
                      <a:r>
                        <a:rPr 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1張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  3星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600級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r>
                        <a:rPr 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2星 </a:t>
                      </a: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威力卡</a:t>
                      </a:r>
                      <a:r>
                        <a:rPr 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1張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450級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  1星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300級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  5星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225級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  4星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  3星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  2星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75級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 5星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 4星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 3星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 2星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 1星 威力卡  1張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1級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體驗廳</a:t>
                      </a:r>
                      <a:r>
                        <a:rPr 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5星 </a:t>
                      </a: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威力卡</a:t>
                      </a:r>
                      <a:r>
                        <a:rPr 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1張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4"/>
          <p:cNvGraphicFramePr/>
          <p:nvPr/>
        </p:nvGraphicFramePr>
        <p:xfrm>
          <a:off x="179499" y="542578"/>
          <a:ext cx="4320500" cy="4948944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64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押注額度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9,960~10,000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7,980~8,000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6,000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3,960~4,000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2,500~2,520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1,800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780~800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480~520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350~360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180~200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80~120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40~60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7" name="Google Shape;97;p4"/>
          <p:cNvSpPr txBox="1"/>
          <p:nvPr/>
        </p:nvSpPr>
        <p:spPr>
          <a:xfrm>
            <a:off x="179498" y="116625"/>
            <a:ext cx="21327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SLOT外贈送寶石</a:t>
            </a:r>
            <a:endParaRPr/>
          </a:p>
        </p:txBody>
      </p:sp>
      <p:graphicFrame>
        <p:nvGraphicFramePr>
          <p:cNvPr id="98" name="Google Shape;98;p4"/>
          <p:cNvGraphicFramePr/>
          <p:nvPr/>
        </p:nvGraphicFramePr>
        <p:xfrm>
          <a:off x="4672399" y="542578"/>
          <a:ext cx="4320500" cy="5876871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64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押注額度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29,97</a:t>
                      </a: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0~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30,</a:t>
                      </a: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</a:t>
                      </a: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19,980~20,000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2,000顆寶石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14,940-10,000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1,500顆寶石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9,960~10,000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7,980~8,000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6,000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3,960~4,000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2,500~2,520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1,800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780~800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480~520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350~360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180~200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80~120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8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40~60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1顆寶石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9" name="Google Shape;99;p4"/>
          <p:cNvSpPr txBox="1"/>
          <p:nvPr/>
        </p:nvSpPr>
        <p:spPr>
          <a:xfrm>
            <a:off x="4672400" y="116625"/>
            <a:ext cx="28626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SLOT外贈送寶石(傳奇廳)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20f71469b_0_10"/>
          <p:cNvSpPr txBox="1"/>
          <p:nvPr/>
        </p:nvSpPr>
        <p:spPr>
          <a:xfrm>
            <a:off x="179498" y="643050"/>
            <a:ext cx="21327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魚機外贈送寶石</a:t>
            </a:r>
            <a:endParaRPr dirty="0"/>
          </a:p>
        </p:txBody>
      </p:sp>
      <p:graphicFrame>
        <p:nvGraphicFramePr>
          <p:cNvPr id="106" name="Google Shape;106;g2720f71469b_0_10"/>
          <p:cNvGraphicFramePr/>
          <p:nvPr>
            <p:extLst>
              <p:ext uri="{D42A27DB-BD31-4B8C-83A1-F6EECF244321}">
                <p14:modId xmlns:p14="http://schemas.microsoft.com/office/powerpoint/2010/main" val="2796745508"/>
              </p:ext>
            </p:extLst>
          </p:nvPr>
        </p:nvGraphicFramePr>
        <p:xfrm>
          <a:off x="179499" y="1081303"/>
          <a:ext cx="7355550" cy="11529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22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30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2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2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體驗廳</a:t>
                      </a:r>
                      <a:endParaRPr sz="12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可獲得寶石數量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可獲得寶石數量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可獲得寶石數量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800,000分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500顆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80,000分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50顆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2,500分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3顆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Google Shape;105;g2720f71469b_0_10">
            <a:extLst>
              <a:ext uri="{FF2B5EF4-FFF2-40B4-BE49-F238E27FC236}">
                <a16:creationId xmlns:a16="http://schemas.microsoft.com/office/drawing/2014/main" id="{E2460547-9201-DBD1-9361-F74C6E485A2D}"/>
              </a:ext>
            </a:extLst>
          </p:cNvPr>
          <p:cNvSpPr txBox="1"/>
          <p:nvPr/>
        </p:nvSpPr>
        <p:spPr>
          <a:xfrm>
            <a:off x="179498" y="2303156"/>
            <a:ext cx="21327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強化兌換</a:t>
            </a:r>
            <a:endParaRPr dirty="0"/>
          </a:p>
        </p:txBody>
      </p:sp>
      <p:graphicFrame>
        <p:nvGraphicFramePr>
          <p:cNvPr id="3" name="Google Shape;116;p5">
            <a:extLst>
              <a:ext uri="{FF2B5EF4-FFF2-40B4-BE49-F238E27FC236}">
                <a16:creationId xmlns:a16="http://schemas.microsoft.com/office/drawing/2014/main" id="{C494644C-F077-5E1B-41D3-63D337068C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1902108"/>
              </p:ext>
            </p:extLst>
          </p:nvPr>
        </p:nvGraphicFramePr>
        <p:xfrm>
          <a:off x="179512" y="3182446"/>
          <a:ext cx="3773923" cy="16089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434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u="none" strike="noStrike" cap="none" dirty="0">
                          <a:solidFill>
                            <a:schemeClr val="bg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機率強化等級</a:t>
                      </a:r>
                      <a:endParaRPr sz="1200" b="1" u="none" strike="noStrike" cap="none" dirty="0">
                        <a:solidFill>
                          <a:schemeClr val="bg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需消耗素材數量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LV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→ 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LV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u="none" strike="noStrike" cap="none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</a:t>
                      </a:r>
                      <a:endParaRPr sz="1200" b="1" u="none" strike="noStrike" cap="none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LV 1 → LV 2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u="none" strike="noStrike" cap="none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 u="none" strike="noStrike" cap="none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LV 2 → LV 3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u="none" strike="noStrike" cap="none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 u="none" strike="noStrike" cap="none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LV 3 → LV 4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u="none" strike="noStrike" cap="none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 u="none" strike="noStrike" cap="none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LV 4 → LV 5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u="none" strike="noStrike" cap="none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</a:t>
                      </a:r>
                      <a:endParaRPr sz="1200" b="1" u="none" strike="noStrike" cap="none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620149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LV 5 → LV 6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u="none" strike="noStrike" cap="none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</a:t>
                      </a:r>
                      <a:endParaRPr sz="1200" b="1" u="none" strike="noStrike" cap="none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5027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Google Shape;112;p5"/>
          <p:cNvGraphicFramePr/>
          <p:nvPr>
            <p:extLst>
              <p:ext uri="{D42A27DB-BD31-4B8C-83A1-F6EECF244321}">
                <p14:modId xmlns:p14="http://schemas.microsoft.com/office/powerpoint/2010/main" val="884972136"/>
              </p:ext>
            </p:extLst>
          </p:nvPr>
        </p:nvGraphicFramePr>
        <p:xfrm>
          <a:off x="179512" y="764821"/>
          <a:ext cx="5111600" cy="13791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u="none" strike="noStrike" cap="none" dirty="0" err="1">
                          <a:solidFill>
                            <a:srgbClr val="FFFF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龍榜</a:t>
                      </a: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 pitchFamily="34" charset="0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五星威力卡+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 pitchFamily="34" charset="0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四星威力卡+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 pitchFamily="34" charset="0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三星威力卡+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4-10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 panose="020B0604020202020204" pitchFamily="34" charset="0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二星威力卡+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11-20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一星威力卡</a:t>
                      </a:r>
                      <a:r>
                        <a:rPr lang="en-US" sz="1200" b="1" u="none" strike="noStrike" cap="none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3" name="Google Shape;113;p5"/>
          <p:cNvSpPr txBox="1"/>
          <p:nvPr/>
        </p:nvSpPr>
        <p:spPr>
          <a:xfrm>
            <a:off x="179512" y="116632"/>
            <a:ext cx="187220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主打榜</a:t>
            </a:r>
            <a:endParaRPr/>
          </a:p>
        </p:txBody>
      </p:sp>
      <p:graphicFrame>
        <p:nvGraphicFramePr>
          <p:cNvPr id="114" name="Google Shape;114;p5"/>
          <p:cNvGraphicFramePr/>
          <p:nvPr>
            <p:extLst>
              <p:ext uri="{D42A27DB-BD31-4B8C-83A1-F6EECF244321}">
                <p14:modId xmlns:p14="http://schemas.microsoft.com/office/powerpoint/2010/main" val="293905511"/>
              </p:ext>
            </p:extLst>
          </p:nvPr>
        </p:nvGraphicFramePr>
        <p:xfrm>
          <a:off x="5436095" y="764829"/>
          <a:ext cx="5111600" cy="13791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虎榜</a:t>
                      </a: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五星威力卡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四星威力卡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三星威力卡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4-10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二星威力卡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11-20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一星威力卡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5" name="Google Shape;115;p5"/>
          <p:cNvSpPr txBox="1"/>
          <p:nvPr/>
        </p:nvSpPr>
        <p:spPr>
          <a:xfrm>
            <a:off x="179499" y="2583250"/>
            <a:ext cx="20595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單日龍榜</a:t>
            </a:r>
            <a:endParaRPr dirty="0"/>
          </a:p>
        </p:txBody>
      </p:sp>
      <p:graphicFrame>
        <p:nvGraphicFramePr>
          <p:cNvPr id="116" name="Google Shape;116;p5"/>
          <p:cNvGraphicFramePr/>
          <p:nvPr>
            <p:extLst>
              <p:ext uri="{D42A27DB-BD31-4B8C-83A1-F6EECF244321}">
                <p14:modId xmlns:p14="http://schemas.microsoft.com/office/powerpoint/2010/main" val="4072828586"/>
              </p:ext>
            </p:extLst>
          </p:nvPr>
        </p:nvGraphicFramePr>
        <p:xfrm>
          <a:off x="179512" y="3182446"/>
          <a:ext cx="5111600" cy="11492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龍榜</a:t>
                      </a: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五星威力卡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四星威力卡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三星威力卡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4-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u="none" strike="noStrike" cap="none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二星威力卡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/>
        </p:nvSpPr>
        <p:spPr>
          <a:xfrm>
            <a:off x="179512" y="116632"/>
            <a:ext cx="187220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魚王榜</a:t>
            </a:r>
            <a:endParaRPr/>
          </a:p>
        </p:txBody>
      </p:sp>
      <p:graphicFrame>
        <p:nvGraphicFramePr>
          <p:cNvPr id="122" name="Google Shape;122;p10"/>
          <p:cNvGraphicFramePr/>
          <p:nvPr>
            <p:extLst>
              <p:ext uri="{D42A27DB-BD31-4B8C-83A1-F6EECF244321}">
                <p14:modId xmlns:p14="http://schemas.microsoft.com/office/powerpoint/2010/main" val="2415391165"/>
              </p:ext>
            </p:extLst>
          </p:nvPr>
        </p:nvGraphicFramePr>
        <p:xfrm>
          <a:off x="1187624" y="980728"/>
          <a:ext cx="5111600" cy="18721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8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體驗廳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1,500,000 </a:t>
                      </a:r>
                      <a:r>
                        <a:rPr lang="en-US" sz="1200" b="1" u="none" strike="noStrike" cap="none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金幣</a:t>
                      </a:r>
                      <a:endParaRPr dirty="0"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 金幣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30,000 金幣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800,000 金幣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300,000 金幣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20,000 金幣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 金幣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200,000 金幣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10,000 金幣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4-10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300,000 金幣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 金幣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5,000 金幣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11-20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200,000 金幣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 金幣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3,000金幣</a:t>
                      </a:r>
                      <a:endParaRPr dirty="0"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3" name="Google Shape;123;p10"/>
          <p:cNvSpPr txBox="1"/>
          <p:nvPr/>
        </p:nvSpPr>
        <p:spPr>
          <a:xfrm>
            <a:off x="179498" y="3347625"/>
            <a:ext cx="21354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每日登入-刮刮樂</a:t>
            </a:r>
            <a:endParaRPr/>
          </a:p>
        </p:txBody>
      </p:sp>
      <p:graphicFrame>
        <p:nvGraphicFramePr>
          <p:cNvPr id="124" name="Google Shape;124;p10"/>
          <p:cNvGraphicFramePr/>
          <p:nvPr>
            <p:extLst>
              <p:ext uri="{D42A27DB-BD31-4B8C-83A1-F6EECF244321}">
                <p14:modId xmlns:p14="http://schemas.microsoft.com/office/powerpoint/2010/main" val="548214657"/>
              </p:ext>
            </p:extLst>
          </p:nvPr>
        </p:nvGraphicFramePr>
        <p:xfrm>
          <a:off x="1187624" y="4056503"/>
          <a:ext cx="2282300" cy="21762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8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VIP層級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加乘%數</a:t>
                      </a:r>
                      <a:endParaRPr sz="1200" b="1" u="none" strike="noStrike" cap="none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鑽石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 300%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白金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 200%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 150%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銀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 120%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銅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 100%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鐵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 100%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/>
        </p:nvSpPr>
        <p:spPr>
          <a:xfrm>
            <a:off x="179498" y="116625"/>
            <a:ext cx="21573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抽獎活動(天天抽)</a:t>
            </a:r>
            <a:endParaRPr sz="1800" b="1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130" name="Google Shape;130;p12"/>
          <p:cNvGraphicFramePr/>
          <p:nvPr/>
        </p:nvGraphicFramePr>
        <p:xfrm>
          <a:off x="1187624" y="980728"/>
          <a:ext cx="5112000" cy="17787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抽出玩家名額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寶石數量</a:t>
                      </a:r>
                      <a:endParaRPr sz="1200" b="1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5名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3,000顆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10名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500顆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20名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100顆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65名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50顆</a:t>
                      </a:r>
                      <a:endParaRPr/>
                    </a:p>
                  </a:txBody>
                  <a:tcPr marL="9525" marR="9525" marT="9525" marB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179512" y="116632"/>
            <a:ext cx="187220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數據-VIP任務</a:t>
            </a:r>
            <a:endParaRPr/>
          </a:p>
        </p:txBody>
      </p:sp>
      <p:graphicFrame>
        <p:nvGraphicFramePr>
          <p:cNvPr id="136" name="Google Shape;136;p17"/>
          <p:cNvGraphicFramePr/>
          <p:nvPr>
            <p:extLst>
              <p:ext uri="{D42A27DB-BD31-4B8C-83A1-F6EECF244321}">
                <p14:modId xmlns:p14="http://schemas.microsoft.com/office/powerpoint/2010/main" val="1988964676"/>
              </p:ext>
            </p:extLst>
          </p:nvPr>
        </p:nvGraphicFramePr>
        <p:xfrm>
          <a:off x="457200" y="1600200"/>
          <a:ext cx="6923100" cy="1687925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38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指定條件</a:t>
                      </a:r>
                      <a:endParaRPr sz="12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獎勵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高手廳押注1200金幣以上，累計獲得4次JUMBO WIN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至尊廳一星紫卡2張 + 高手廳五星紫卡1張</a:t>
                      </a:r>
                      <a:endParaRPr sz="1200"/>
                    </a:p>
                  </a:txBody>
                  <a:tcPr marL="63500" marR="63500" marT="63500" marB="635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高手廳押注1200金幣以上，累計獲得3次JUMBO WIN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高手廳三星紫卡2張 + 高手廳四星紫卡1張</a:t>
                      </a:r>
                      <a:endParaRPr sz="1200"/>
                    </a:p>
                  </a:txBody>
                  <a:tcPr marL="63500" marR="63500" marT="63500" marB="635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高手廳押注1200金幣以上，累計獲得1次JUMBO WIN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高手廳一星紫卡2張</a:t>
                      </a:r>
                      <a:endParaRPr sz="1200" dirty="0"/>
                    </a:p>
                  </a:txBody>
                  <a:tcPr marL="63500" marR="63500" marT="63500" marB="635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179512" y="116632"/>
            <a:ext cx="187220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收禮人氣</a:t>
            </a:r>
            <a:endParaRPr/>
          </a:p>
        </p:txBody>
      </p:sp>
      <p:graphicFrame>
        <p:nvGraphicFramePr>
          <p:cNvPr id="142" name="Google Shape;142;p18"/>
          <p:cNvGraphicFramePr/>
          <p:nvPr/>
        </p:nvGraphicFramePr>
        <p:xfrm>
          <a:off x="1187624" y="980728"/>
          <a:ext cx="6048675" cy="12639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5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人氣獎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抽獎條件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獎品-寶石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名額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最佳人氣獎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日收禮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1,000,001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金幣以上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顆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名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優質人氣獎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日收禮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300,001-1,000,000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金幣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800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顆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名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好感人氣獎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日收禮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50,000-300,000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金幣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顆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名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3" name="Google Shape;143;p18"/>
          <p:cNvSpPr/>
          <p:nvPr/>
        </p:nvSpPr>
        <p:spPr>
          <a:xfrm>
            <a:off x="-2700808" y="-902264"/>
            <a:ext cx="576064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/>
        </p:nvSpPr>
        <p:spPr>
          <a:xfrm>
            <a:off x="179512" y="116632"/>
            <a:ext cx="187220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抽獎-SLOT門檻</a:t>
            </a:r>
            <a:endParaRPr/>
          </a:p>
        </p:txBody>
      </p:sp>
      <p:graphicFrame>
        <p:nvGraphicFramePr>
          <p:cNvPr id="149" name="Google Shape;149;p23"/>
          <p:cNvGraphicFramePr/>
          <p:nvPr>
            <p:extLst>
              <p:ext uri="{D42A27DB-BD31-4B8C-83A1-F6EECF244321}">
                <p14:modId xmlns:p14="http://schemas.microsoft.com/office/powerpoint/2010/main" val="2456098887"/>
              </p:ext>
            </p:extLst>
          </p:nvPr>
        </p:nvGraphicFramePr>
        <p:xfrm>
          <a:off x="1187624" y="980728"/>
          <a:ext cx="7632825" cy="12639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2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抽獎券張數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單把贏分 (銅券)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 單把贏分 (銀券)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 單把贏分 (金券)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10,000贏分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50,000贏分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200,000贏分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25,000贏分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125,000贏分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500,000贏分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50,000贏分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250,000贏分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1,000,000贏分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0" name="Google Shape;150;p23"/>
          <p:cNvSpPr/>
          <p:nvPr/>
        </p:nvSpPr>
        <p:spPr>
          <a:xfrm>
            <a:off x="-2700808" y="-902264"/>
            <a:ext cx="576064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/>
        </p:nvSpPr>
        <p:spPr>
          <a:xfrm>
            <a:off x="179512" y="116632"/>
            <a:ext cx="216024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拼圖-抽獎寶石數量</a:t>
            </a:r>
            <a:endParaRPr/>
          </a:p>
        </p:txBody>
      </p:sp>
      <p:sp>
        <p:nvSpPr>
          <p:cNvPr id="163" name="Google Shape;163;p25"/>
          <p:cNvSpPr/>
          <p:nvPr/>
        </p:nvSpPr>
        <p:spPr>
          <a:xfrm>
            <a:off x="-2700808" y="-902264"/>
            <a:ext cx="576064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25"/>
          <p:cNvGraphicFramePr/>
          <p:nvPr>
            <p:extLst>
              <p:ext uri="{D42A27DB-BD31-4B8C-83A1-F6EECF244321}">
                <p14:modId xmlns:p14="http://schemas.microsoft.com/office/powerpoint/2010/main" val="902174553"/>
              </p:ext>
            </p:extLst>
          </p:nvPr>
        </p:nvGraphicFramePr>
        <p:xfrm>
          <a:off x="1475656" y="1412776"/>
          <a:ext cx="5940000" cy="9194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可獲得寶石數量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 可獲得寶石數量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 可獲得寶石數量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 顆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5" name="Google Shape;165;p25"/>
          <p:cNvGraphicFramePr/>
          <p:nvPr>
            <p:extLst>
              <p:ext uri="{D42A27DB-BD31-4B8C-83A1-F6EECF244321}">
                <p14:modId xmlns:p14="http://schemas.microsoft.com/office/powerpoint/2010/main" val="3958369165"/>
              </p:ext>
            </p:extLst>
          </p:nvPr>
        </p:nvGraphicFramePr>
        <p:xfrm>
          <a:off x="1475656" y="3429000"/>
          <a:ext cx="5940000" cy="9194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 可獲得寶石數量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 可獲得寶石數量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可獲得寶石數量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 顆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 顆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/>
        </p:nvSpPr>
        <p:spPr>
          <a:xfrm>
            <a:off x="179499" y="116625"/>
            <a:ext cx="23439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紅包牆-每日不同遊戲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-2700808" y="-902264"/>
            <a:ext cx="576064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2" name="Google Shape;172;p27"/>
          <p:cNvGraphicFramePr/>
          <p:nvPr>
            <p:extLst>
              <p:ext uri="{D42A27DB-BD31-4B8C-83A1-F6EECF244321}">
                <p14:modId xmlns:p14="http://schemas.microsoft.com/office/powerpoint/2010/main" val="2732727113"/>
              </p:ext>
            </p:extLst>
          </p:nvPr>
        </p:nvGraphicFramePr>
        <p:xfrm>
          <a:off x="179512" y="3932796"/>
          <a:ext cx="4752525" cy="1639375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7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廳館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傳奇廳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單把贏分1,500,000分以上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單把贏分500,000分以上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單把贏分125,000分以上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單把贏分25,000分以上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3" name="Google Shape;173;p27"/>
          <p:cNvGraphicFramePr/>
          <p:nvPr>
            <p:extLst>
              <p:ext uri="{D42A27DB-BD31-4B8C-83A1-F6EECF244321}">
                <p14:modId xmlns:p14="http://schemas.microsoft.com/office/powerpoint/2010/main" val="241647088"/>
              </p:ext>
            </p:extLst>
          </p:nvPr>
        </p:nvGraphicFramePr>
        <p:xfrm>
          <a:off x="179512" y="729191"/>
          <a:ext cx="2468850" cy="19672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06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日期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每日指定道具卡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/2(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四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太陽神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/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五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麻雀無雙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黃金版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/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六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雷神索爾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/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日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亞瑟王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黃金版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/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賽特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" name="Google Shape;174;p27"/>
          <p:cNvSpPr txBox="1"/>
          <p:nvPr/>
        </p:nvSpPr>
        <p:spPr>
          <a:xfrm>
            <a:off x="179501" y="3267600"/>
            <a:ext cx="37851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紅包牆-贏分門檻-有傳奇廳</a:t>
            </a:r>
            <a:endParaRPr sz="1800" b="1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175" name="Google Shape;175;p27"/>
          <p:cNvGraphicFramePr/>
          <p:nvPr>
            <p:extLst>
              <p:ext uri="{D42A27DB-BD31-4B8C-83A1-F6EECF244321}">
                <p14:modId xmlns:p14="http://schemas.microsoft.com/office/powerpoint/2010/main" val="1855688291"/>
              </p:ext>
            </p:extLst>
          </p:nvPr>
        </p:nvGraphicFramePr>
        <p:xfrm>
          <a:off x="5099362" y="3932796"/>
          <a:ext cx="4752525" cy="13115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7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廳館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單把贏分500,000分以上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單把贏分125,000分以上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單把贏分25,000分以上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6" name="Google Shape;176;p27"/>
          <p:cNvSpPr txBox="1"/>
          <p:nvPr/>
        </p:nvSpPr>
        <p:spPr>
          <a:xfrm>
            <a:off x="5099351" y="3267600"/>
            <a:ext cx="37851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紅包牆-贏分門檻-無傳奇廳</a:t>
            </a:r>
            <a:endParaRPr sz="1800" b="1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" name="Google Shape;170;p27">
            <a:extLst>
              <a:ext uri="{FF2B5EF4-FFF2-40B4-BE49-F238E27FC236}">
                <a16:creationId xmlns:a16="http://schemas.microsoft.com/office/drawing/2014/main" id="{656CAFC6-0F0A-D6CA-E3ED-EA36EF4E3A35}"/>
              </a:ext>
            </a:extLst>
          </p:cNvPr>
          <p:cNvSpPr txBox="1"/>
          <p:nvPr/>
        </p:nvSpPr>
        <p:spPr>
          <a:xfrm>
            <a:off x="2792651" y="116625"/>
            <a:ext cx="23439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ccu-每日不同遊戲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/>
        </p:nvSpPr>
        <p:spPr>
          <a:xfrm>
            <a:off x="179512" y="107340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外贈送紅包</a:t>
            </a:r>
            <a:endParaRPr/>
          </a:p>
        </p:txBody>
      </p:sp>
      <p:graphicFrame>
        <p:nvGraphicFramePr>
          <p:cNvPr id="182" name="Google Shape;182;p30"/>
          <p:cNvGraphicFramePr/>
          <p:nvPr/>
        </p:nvGraphicFramePr>
        <p:xfrm>
          <a:off x="179512" y="836712"/>
          <a:ext cx="4752525" cy="1828800"/>
        </p:xfrm>
        <a:graphic>
          <a:graphicData uri="http://schemas.openxmlformats.org/drawingml/2006/table">
            <a:tbl>
              <a:tblPr firstRow="1" firstCol="1" bandRow="1">
                <a:noFill/>
                <a:tableStyleId>{F972D902-E15E-474F-8490-793B290529E7}</a:tableStyleId>
              </a:tblPr>
              <a:tblGrid>
                <a:gridCol w="129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廳館 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紅包寶物範圍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金幣16,888 ~ 3,888,888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、寶石 100 ~ 10,000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、至尊廳一~五星指定遊戲道具卡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金幣2,888 ~ 888,888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、寶石 15 ~ 2,500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、高手廳一~五星指定遊戲道具卡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金幣388 ~ 168,888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、寶石 1 ~ 500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、一般廳一~五星指定遊戲道具卡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p52"/>
          <p:cNvGraphicFramePr/>
          <p:nvPr>
            <p:extLst>
              <p:ext uri="{D42A27DB-BD31-4B8C-83A1-F6EECF244321}">
                <p14:modId xmlns:p14="http://schemas.microsoft.com/office/powerpoint/2010/main" val="3076743759"/>
              </p:ext>
            </p:extLst>
          </p:nvPr>
        </p:nvGraphicFramePr>
        <p:xfrm>
          <a:off x="3203848" y="107340"/>
          <a:ext cx="5400575" cy="27844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0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名次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贏分榜獎勵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轉輪榜獎勵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至尊廳五星紅卡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至尊廳二星紅卡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至尊廳四星紅卡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至尊廳一星紅卡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至尊廳三星紅卡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高手廳五星紅卡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至尊廳一星紅卡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高手廳三星紅卡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高手廳五星紅卡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高手廳二星紅卡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6-10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高手廳二星紅卡+500顆寶石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高手廳一星紅卡 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11-20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高手廳一星紅卡+300顆寶石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300顆寶石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21-30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350顆寶石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150顆寶石</a:t>
                      </a:r>
                      <a:endParaRPr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8" name="Google Shape;188;p52"/>
          <p:cNvSpPr txBox="1"/>
          <p:nvPr/>
        </p:nvSpPr>
        <p:spPr>
          <a:xfrm>
            <a:off x="179512" y="107340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VIP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維繫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189" name="Google Shape;189;p52"/>
          <p:cNvGraphicFramePr/>
          <p:nvPr>
            <p:extLst>
              <p:ext uri="{D42A27DB-BD31-4B8C-83A1-F6EECF244321}">
                <p14:modId xmlns:p14="http://schemas.microsoft.com/office/powerpoint/2010/main" val="2473528516"/>
              </p:ext>
            </p:extLst>
          </p:nvPr>
        </p:nvGraphicFramePr>
        <p:xfrm>
          <a:off x="509468" y="2573855"/>
          <a:ext cx="5400575" cy="32721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0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名次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贏分榜獎勵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轉輪榜獎勵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至尊廳五星紅卡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至尊廳二星紅卡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至尊廳四星紅卡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至尊廳一星紅卡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至尊廳三星紅卡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高手廳五星紅卡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至尊廳二星紅卡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高手廳四星紅卡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至尊廳一星紅卡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高手廳三星紅卡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6-10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高手廳五星紅卡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高手廳二星紅卡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11-20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高手廳二星紅卡+500顆寶石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高手廳一星紅卡 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21-30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高手廳一星紅卡+300顆寶石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300顆寶石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31-50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350顆寶石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150顆寶石</a:t>
                      </a:r>
                      <a:endParaRPr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p57"/>
          <p:cNvGraphicFramePr/>
          <p:nvPr/>
        </p:nvGraphicFramePr>
        <p:xfrm>
          <a:off x="251520" y="1700808"/>
          <a:ext cx="2800000" cy="3055275"/>
        </p:xfrm>
        <a:graphic>
          <a:graphicData uri="http://schemas.openxmlformats.org/drawingml/2006/table">
            <a:tbl>
              <a:tblPr firstRow="1" firstCol="1" bandRow="1">
                <a:noFill/>
                <a:tableStyleId>{F972D902-E15E-474F-8490-793B290529E7}</a:tableStyleId>
              </a:tblPr>
              <a:tblGrid>
                <a:gridCol w="145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4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贏分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125,000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250,000</a:t>
                      </a:r>
                      <a:endParaRPr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375,000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650,000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1,250,000</a:t>
                      </a:r>
                      <a:endParaRPr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10,000</a:t>
                      </a:r>
                      <a:endParaRPr/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95" name="Google Shape;195;p57"/>
          <p:cNvGraphicFramePr/>
          <p:nvPr/>
        </p:nvGraphicFramePr>
        <p:xfrm>
          <a:off x="3203848" y="1700808"/>
          <a:ext cx="2800000" cy="3055275"/>
        </p:xfrm>
        <a:graphic>
          <a:graphicData uri="http://schemas.openxmlformats.org/drawingml/2006/table">
            <a:tbl>
              <a:tblPr firstRow="1" firstCol="1" bandRow="1">
                <a:noFill/>
                <a:tableStyleId>{F972D902-E15E-474F-8490-793B290529E7}</a:tableStyleId>
              </a:tblPr>
              <a:tblGrid>
                <a:gridCol w="145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4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贏分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12,500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25,000</a:t>
                      </a:r>
                      <a:endParaRPr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37,500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65,000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125,000</a:t>
                      </a:r>
                      <a:endParaRPr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</a:t>
                      </a:r>
                      <a:endParaRPr/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96" name="Google Shape;196;p57"/>
          <p:cNvGraphicFramePr/>
          <p:nvPr/>
        </p:nvGraphicFramePr>
        <p:xfrm>
          <a:off x="6156176" y="1700808"/>
          <a:ext cx="2800000" cy="3055275"/>
        </p:xfrm>
        <a:graphic>
          <a:graphicData uri="http://schemas.openxmlformats.org/drawingml/2006/table">
            <a:tbl>
              <a:tblPr firstRow="1" firstCol="1" bandRow="1">
                <a:noFill/>
                <a:tableStyleId>{F972D902-E15E-474F-8490-793B290529E7}</a:tableStyleId>
              </a:tblPr>
              <a:tblGrid>
                <a:gridCol w="145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4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贏分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1,250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2,500</a:t>
                      </a:r>
                      <a:endParaRPr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3,750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6,500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12,500</a:t>
                      </a:r>
                      <a:endParaRPr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endParaRPr/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97" name="Google Shape;197;p57"/>
          <p:cNvGraphicFramePr/>
          <p:nvPr/>
        </p:nvGraphicFramePr>
        <p:xfrm>
          <a:off x="539552" y="4869160"/>
          <a:ext cx="7128800" cy="1584175"/>
        </p:xfrm>
        <a:graphic>
          <a:graphicData uri="http://schemas.openxmlformats.org/drawingml/2006/table">
            <a:tbl>
              <a:tblPr firstRow="1" firstCol="1" bandRow="1">
                <a:noFill/>
                <a:tableStyleId>{F972D902-E15E-474F-8490-793B290529E7}</a:tableStyleId>
              </a:tblPr>
              <a:tblGrid>
                <a:gridCol w="222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福袋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兌換積分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可隨機獲得金幣獎勵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富貴福袋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50,000~3,000,000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吉祥福袋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4,000~200,000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如意福袋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300~10,000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8" name="Google Shape;198;p57"/>
          <p:cNvSpPr txBox="1"/>
          <p:nvPr/>
        </p:nvSpPr>
        <p:spPr>
          <a:xfrm>
            <a:off x="179512" y="116632"/>
            <a:ext cx="223224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0317更新-牛牛福袋</a:t>
            </a:r>
            <a:endParaRPr sz="1800" b="1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199" name="Google Shape;199;p57"/>
          <p:cNvGraphicFramePr/>
          <p:nvPr>
            <p:extLst>
              <p:ext uri="{D42A27DB-BD31-4B8C-83A1-F6EECF244321}">
                <p14:modId xmlns:p14="http://schemas.microsoft.com/office/powerpoint/2010/main" val="4035345126"/>
              </p:ext>
            </p:extLst>
          </p:nvPr>
        </p:nvGraphicFramePr>
        <p:xfrm>
          <a:off x="2627784" y="-321858"/>
          <a:ext cx="6912775" cy="16156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31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solidFill>
                            <a:srgbClr val="FFC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遊戲內安卓商城</a:t>
                      </a: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指定儲值面額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可獲得金幣</a:t>
                      </a:r>
                      <a:endParaRPr sz="12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獲得卡片張數</a:t>
                      </a:r>
                      <a:endParaRPr sz="12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獲得卡片範圍</a:t>
                      </a:r>
                      <a:endParaRPr sz="12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限定購買次數</a:t>
                      </a:r>
                      <a:endParaRPr sz="12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3,000元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330,000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高手廳2~5星黃卡或紅卡或紫卡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500元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52,000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一般廳2~5星黃或紅或紫卡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150元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15,300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一般廳1星黃卡或紅卡或紫卡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8"/>
          <p:cNvSpPr txBox="1"/>
          <p:nvPr/>
        </p:nvSpPr>
        <p:spPr>
          <a:xfrm>
            <a:off x="179512" y="107340"/>
            <a:ext cx="432048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&lt;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黑卡積分榜</a:t>
            </a: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&gt;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遊戲卡片贈送時間對應表</a:t>
            </a:r>
            <a:endParaRPr dirty="0"/>
          </a:p>
        </p:txBody>
      </p:sp>
      <p:graphicFrame>
        <p:nvGraphicFramePr>
          <p:cNvPr id="205" name="Google Shape;205;p58"/>
          <p:cNvGraphicFramePr/>
          <p:nvPr>
            <p:extLst>
              <p:ext uri="{D42A27DB-BD31-4B8C-83A1-F6EECF244321}">
                <p14:modId xmlns:p14="http://schemas.microsoft.com/office/powerpoint/2010/main" val="3306284772"/>
              </p:ext>
            </p:extLst>
          </p:nvPr>
        </p:nvGraphicFramePr>
        <p:xfrm>
          <a:off x="179512" y="620688"/>
          <a:ext cx="4536500" cy="108317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223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時間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遊戲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第一週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(2020/6/15~2020/6/21)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台灣黑熊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第二週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(2020/6/22~2020/6/28)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麻雀無雙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6" name="Google Shape;206;p58"/>
          <p:cNvGraphicFramePr/>
          <p:nvPr>
            <p:extLst>
              <p:ext uri="{D42A27DB-BD31-4B8C-83A1-F6EECF244321}">
                <p14:modId xmlns:p14="http://schemas.microsoft.com/office/powerpoint/2010/main" val="2509815129"/>
              </p:ext>
            </p:extLst>
          </p:nvPr>
        </p:nvGraphicFramePr>
        <p:xfrm>
          <a:off x="3726781" y="2658540"/>
          <a:ext cx="3792772" cy="1913496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948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8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0948">
                <a:tc gridSpan="2"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2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2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48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贏分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贏分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94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750,000 </a:t>
                      </a:r>
                      <a:endParaRPr lang="zh-TW" altLang="en-US" dirty="0">
                        <a:effectLst/>
                      </a:endParaRPr>
                    </a:p>
                  </a:txBody>
                  <a:tcPr marL="68580" marR="6858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150,000 </a:t>
                      </a:r>
                      <a:endParaRPr lang="zh-TW" altLang="en-US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E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94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250,000 </a:t>
                      </a:r>
                      <a:endParaRPr lang="zh-TW" altLang="en-US">
                        <a:effectLst/>
                      </a:endParaRPr>
                    </a:p>
                  </a:txBody>
                  <a:tcPr marL="68580" marR="6858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50,000 </a:t>
                      </a:r>
                      <a:endParaRPr lang="zh-TW" altLang="en-US" dirty="0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E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94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125,000 </a:t>
                      </a:r>
                      <a:endParaRPr lang="zh-TW" altLang="en-US">
                        <a:effectLst/>
                      </a:endParaRPr>
                    </a:p>
                  </a:txBody>
                  <a:tcPr marL="68580" marR="6858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25,000 </a:t>
                      </a:r>
                      <a:endParaRPr lang="zh-TW" altLang="en-US" dirty="0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E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94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50,000 </a:t>
                      </a:r>
                      <a:endParaRPr lang="zh-TW" altLang="en-US">
                        <a:effectLst/>
                      </a:endParaRPr>
                    </a:p>
                  </a:txBody>
                  <a:tcPr marL="68580" marR="6858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10,000 </a:t>
                      </a:r>
                      <a:endParaRPr lang="zh-TW" altLang="en-US" dirty="0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E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94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25,000 </a:t>
                      </a:r>
                      <a:endParaRPr lang="zh-TW" altLang="en-US" dirty="0">
                        <a:effectLst/>
                      </a:endParaRPr>
                    </a:p>
                  </a:txBody>
                  <a:tcPr marL="68580" marR="6858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5,000 </a:t>
                      </a:r>
                      <a:endParaRPr lang="zh-TW" altLang="en-US" dirty="0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E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7" name="Google Shape;207;p58"/>
          <p:cNvSpPr txBox="1"/>
          <p:nvPr/>
        </p:nvSpPr>
        <p:spPr>
          <a:xfrm>
            <a:off x="172818" y="2132856"/>
            <a:ext cx="432048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&lt;黑卡積分榜&gt;積分門檻對照表</a:t>
            </a:r>
            <a:endParaRPr/>
          </a:p>
        </p:txBody>
      </p:sp>
      <p:graphicFrame>
        <p:nvGraphicFramePr>
          <p:cNvPr id="208" name="Google Shape;208;p58"/>
          <p:cNvGraphicFramePr/>
          <p:nvPr>
            <p:extLst>
              <p:ext uri="{D42A27DB-BD31-4B8C-83A1-F6EECF244321}">
                <p14:modId xmlns:p14="http://schemas.microsoft.com/office/powerpoint/2010/main" val="2064764505"/>
              </p:ext>
            </p:extLst>
          </p:nvPr>
        </p:nvGraphicFramePr>
        <p:xfrm>
          <a:off x="-2555800" y="4941168"/>
          <a:ext cx="5111600" cy="146937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傳奇廳</a:t>
                      </a: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五星威力卡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三星威力卡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一星威力卡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4-5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一星威力卡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oogle Shape;208;p58">
            <a:extLst>
              <a:ext uri="{FF2B5EF4-FFF2-40B4-BE49-F238E27FC236}">
                <a16:creationId xmlns:a16="http://schemas.microsoft.com/office/drawing/2014/main" id="{19038271-6FC3-446D-99BF-E49ED08257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3373289"/>
              </p:ext>
            </p:extLst>
          </p:nvPr>
        </p:nvGraphicFramePr>
        <p:xfrm>
          <a:off x="2861026" y="4941168"/>
          <a:ext cx="5111600" cy="146937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五星威力卡</a:t>
                      </a: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三星威力卡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一星威力卡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4-5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一星威力卡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Google Shape;208;p58">
            <a:extLst>
              <a:ext uri="{FF2B5EF4-FFF2-40B4-BE49-F238E27FC236}">
                <a16:creationId xmlns:a16="http://schemas.microsoft.com/office/drawing/2014/main" id="{E01D5509-68DF-4250-9A4C-DC10A33767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4082666"/>
              </p:ext>
            </p:extLst>
          </p:nvPr>
        </p:nvGraphicFramePr>
        <p:xfrm>
          <a:off x="7184547" y="476672"/>
          <a:ext cx="5111600" cy="146937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五星威力卡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三星威力卡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一星威力卡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4-10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一星威力卡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Google Shape;208;p58">
            <a:extLst>
              <a:ext uri="{FF2B5EF4-FFF2-40B4-BE49-F238E27FC236}">
                <a16:creationId xmlns:a16="http://schemas.microsoft.com/office/drawing/2014/main" id="{AB536B6D-9B8B-48BF-B1C6-632B53861E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3261519"/>
              </p:ext>
            </p:extLst>
          </p:nvPr>
        </p:nvGraphicFramePr>
        <p:xfrm>
          <a:off x="8917506" y="2320930"/>
          <a:ext cx="5111600" cy="146937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五星威力卡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三星威力卡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一星威力卡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4-15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一星威力卡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Google Shape;208;p58">
            <a:extLst>
              <a:ext uri="{FF2B5EF4-FFF2-40B4-BE49-F238E27FC236}">
                <a16:creationId xmlns:a16="http://schemas.microsoft.com/office/drawing/2014/main" id="{D78FA881-A3CF-4CD9-976C-BF2786F706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6950560"/>
              </p:ext>
            </p:extLst>
          </p:nvPr>
        </p:nvGraphicFramePr>
        <p:xfrm>
          <a:off x="8907346" y="4165188"/>
          <a:ext cx="5111600" cy="115949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體驗廳</a:t>
                      </a: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1-5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五星威力卡</a:t>
                      </a: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6-15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五星威力卡</a:t>
                      </a:r>
                      <a:endParaRPr lang="zh-TW" altLang="en-US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16-30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三星威力卡</a:t>
                      </a:r>
                      <a:endParaRPr lang="zh-TW" altLang="en-US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Google Shape;206;p58">
            <a:extLst>
              <a:ext uri="{FF2B5EF4-FFF2-40B4-BE49-F238E27FC236}">
                <a16:creationId xmlns:a16="http://schemas.microsoft.com/office/drawing/2014/main" id="{2417C5B6-E644-4143-BA29-AABB568899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9139685"/>
              </p:ext>
            </p:extLst>
          </p:nvPr>
        </p:nvGraphicFramePr>
        <p:xfrm>
          <a:off x="-271939" y="2658540"/>
          <a:ext cx="3792772" cy="1913496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948193">
                  <a:extLst>
                    <a:ext uri="{9D8B030D-6E8A-4147-A177-3AD203B41FA5}">
                      <a16:colId xmlns:a16="http://schemas.microsoft.com/office/drawing/2014/main" val="3273318665"/>
                    </a:ext>
                  </a:extLst>
                </a:gridCol>
                <a:gridCol w="948193">
                  <a:extLst>
                    <a:ext uri="{9D8B030D-6E8A-4147-A177-3AD203B41FA5}">
                      <a16:colId xmlns:a16="http://schemas.microsoft.com/office/drawing/2014/main" val="2515171719"/>
                    </a:ext>
                  </a:extLst>
                </a:gridCol>
                <a:gridCol w="948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948">
                <a:tc gridSpan="2"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傳奇</a:t>
                      </a:r>
                      <a:r>
                        <a:rPr 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廳</a:t>
                      </a:r>
                      <a:endParaRPr sz="12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5373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endParaRPr sz="12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537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48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贏分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贏分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537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94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5,000,000 </a:t>
                      </a:r>
                      <a:endParaRPr lang="zh-TW" altLang="en-US" dirty="0">
                        <a:effectLst/>
                      </a:endParaRPr>
                    </a:p>
                  </a:txBody>
                  <a:tcPr marL="68580" marR="6858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3,000,000 </a:t>
                      </a:r>
                      <a:endParaRPr lang="zh-TW" altLang="en-US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94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2,500,000 </a:t>
                      </a:r>
                      <a:endParaRPr lang="zh-TW" altLang="en-US" dirty="0">
                        <a:effectLst/>
                      </a:endParaRPr>
                    </a:p>
                  </a:txBody>
                  <a:tcPr marL="68580" marR="6858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1,000,000 </a:t>
                      </a:r>
                      <a:endParaRPr lang="zh-TW" altLang="en-US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94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1,000,000 </a:t>
                      </a:r>
                      <a:endParaRPr lang="zh-TW" altLang="en-US">
                        <a:effectLst/>
                      </a:endParaRPr>
                    </a:p>
                  </a:txBody>
                  <a:tcPr marL="68580" marR="6858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500,000 </a:t>
                      </a:r>
                      <a:endParaRPr lang="zh-TW" altLang="en-US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94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500,000 </a:t>
                      </a:r>
                      <a:endParaRPr lang="zh-TW" altLang="en-US">
                        <a:effectLst/>
                      </a:endParaRPr>
                    </a:p>
                  </a:txBody>
                  <a:tcPr marL="68580" marR="6858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200,000 </a:t>
                      </a:r>
                      <a:endParaRPr lang="zh-TW" altLang="en-US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948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250,000 </a:t>
                      </a:r>
                      <a:endParaRPr lang="zh-TW" altLang="en-US" dirty="0">
                        <a:effectLst/>
                      </a:endParaRPr>
                    </a:p>
                  </a:txBody>
                  <a:tcPr marL="68580" marR="6858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100,000 </a:t>
                      </a:r>
                      <a:endParaRPr lang="zh-TW" altLang="en-US" dirty="0">
                        <a:effectLst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9"/>
          <p:cNvSpPr txBox="1"/>
          <p:nvPr/>
        </p:nvSpPr>
        <p:spPr>
          <a:xfrm>
            <a:off x="179512" y="107340"/>
            <a:ext cx="619268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&lt;黑卡積分榜NEW-2023版&gt;遊戲卡片贈送時間對應表</a:t>
            </a:r>
            <a:endParaRPr/>
          </a:p>
        </p:txBody>
      </p:sp>
      <p:graphicFrame>
        <p:nvGraphicFramePr>
          <p:cNvPr id="214" name="Google Shape;214;p59"/>
          <p:cNvGraphicFramePr/>
          <p:nvPr>
            <p:extLst>
              <p:ext uri="{D42A27DB-BD31-4B8C-83A1-F6EECF244321}">
                <p14:modId xmlns:p14="http://schemas.microsoft.com/office/powerpoint/2010/main" val="188686636"/>
              </p:ext>
            </p:extLst>
          </p:nvPr>
        </p:nvGraphicFramePr>
        <p:xfrm>
          <a:off x="179512" y="620688"/>
          <a:ext cx="4536500" cy="108317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223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時間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遊戲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第一週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(2020/6/15~2020/6/21)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台灣黑熊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第二週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(2020/6/22~2020/6/28)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麻雀無雙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5" name="Google Shape;215;p59"/>
          <p:cNvGraphicFramePr/>
          <p:nvPr>
            <p:extLst>
              <p:ext uri="{D42A27DB-BD31-4B8C-83A1-F6EECF244321}">
                <p14:modId xmlns:p14="http://schemas.microsoft.com/office/powerpoint/2010/main" val="1390948226"/>
              </p:ext>
            </p:extLst>
          </p:nvPr>
        </p:nvGraphicFramePr>
        <p:xfrm>
          <a:off x="179512" y="2636912"/>
          <a:ext cx="7560900" cy="1960975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26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537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</a:t>
                      </a:r>
                      <a:endParaRPr sz="12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</a:t>
                      </a:r>
                      <a:endParaRPr sz="12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</a:t>
                      </a:r>
                      <a:endParaRPr sz="12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endParaRPr sz="1200" b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750,000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endParaRPr sz="1200" b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endParaRPr sz="1200" b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</a:t>
                      </a:r>
                      <a:endParaRPr sz="1200" b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250,000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</a:t>
                      </a:r>
                      <a:endParaRPr sz="1200" b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</a:t>
                      </a:r>
                      <a:endParaRPr sz="1200" b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125,000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5,000</a:t>
                      </a:r>
                      <a:endParaRPr sz="1200" b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6" name="Google Shape;216;p59"/>
          <p:cNvSpPr txBox="1"/>
          <p:nvPr/>
        </p:nvSpPr>
        <p:spPr>
          <a:xfrm>
            <a:off x="172818" y="2132856"/>
            <a:ext cx="432048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&lt;黑卡積分榜&gt;積分門檻對照表</a:t>
            </a:r>
            <a:endParaRPr/>
          </a:p>
        </p:txBody>
      </p:sp>
      <p:graphicFrame>
        <p:nvGraphicFramePr>
          <p:cNvPr id="217" name="Google Shape;217;p59"/>
          <p:cNvGraphicFramePr/>
          <p:nvPr>
            <p:extLst>
              <p:ext uri="{D42A27DB-BD31-4B8C-83A1-F6EECF244321}">
                <p14:modId xmlns:p14="http://schemas.microsoft.com/office/powerpoint/2010/main" val="1927173281"/>
              </p:ext>
            </p:extLst>
          </p:nvPr>
        </p:nvGraphicFramePr>
        <p:xfrm>
          <a:off x="186665" y="4941168"/>
          <a:ext cx="5111600" cy="13791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至尊廳五星極威卡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至尊廳四星極威卡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至尊廳三星極威卡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4-10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至尊廳二星極威卡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11-30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至尊廳一星極威卡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8" name="Google Shape;218;p59"/>
          <p:cNvGraphicFramePr/>
          <p:nvPr>
            <p:extLst>
              <p:ext uri="{D42A27DB-BD31-4B8C-83A1-F6EECF244321}">
                <p14:modId xmlns:p14="http://schemas.microsoft.com/office/powerpoint/2010/main" val="3194808498"/>
              </p:ext>
            </p:extLst>
          </p:nvPr>
        </p:nvGraphicFramePr>
        <p:xfrm>
          <a:off x="5436096" y="4941168"/>
          <a:ext cx="5111600" cy="13791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高手廳五星極威卡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高手廳四星極威卡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高手廳三星極威卡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4-10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高手廳二星極威卡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11-50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高手廳一星極威卡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9" name="Google Shape;219;p59"/>
          <p:cNvGraphicFramePr/>
          <p:nvPr>
            <p:extLst>
              <p:ext uri="{D42A27DB-BD31-4B8C-83A1-F6EECF244321}">
                <p14:modId xmlns:p14="http://schemas.microsoft.com/office/powerpoint/2010/main" val="3294271310"/>
              </p:ext>
            </p:extLst>
          </p:nvPr>
        </p:nvGraphicFramePr>
        <p:xfrm>
          <a:off x="5220072" y="1052736"/>
          <a:ext cx="5111600" cy="13791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9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一般廳五星極威卡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一般廳四星極威卡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一般廳三星極威卡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4-10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一般廳二星極威卡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11-100</a:t>
                      </a:r>
                      <a:endParaRPr sz="12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一般廳一星極威卡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0"/>
          <p:cNvSpPr txBox="1"/>
          <p:nvPr/>
        </p:nvSpPr>
        <p:spPr>
          <a:xfrm>
            <a:off x="179512" y="107340"/>
            <a:ext cx="432048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&lt;黑卡積分榜&gt;抽獎獎項表</a:t>
            </a:r>
            <a:endParaRPr/>
          </a:p>
        </p:txBody>
      </p:sp>
      <p:graphicFrame>
        <p:nvGraphicFramePr>
          <p:cNvPr id="225" name="Google Shape;225;p60"/>
          <p:cNvGraphicFramePr/>
          <p:nvPr/>
        </p:nvGraphicFramePr>
        <p:xfrm>
          <a:off x="209533" y="692696"/>
          <a:ext cx="3930425" cy="4749502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52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5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38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endParaRPr sz="13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38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抽出人數</a:t>
                      </a:r>
                      <a:endParaRPr sz="13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38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</a:t>
                      </a:r>
                      <a:endParaRPr sz="13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8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1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至尊廳「當週遊戲」一星極威卡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1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至尊廳「當週遊戲」一星威力卡+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1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至尊廳「當週遊戲」一星威力卡</a:t>
                      </a:r>
                      <a:endParaRPr sz="1200" b="1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7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38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3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497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38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抽出人數</a:t>
                      </a:r>
                      <a:endParaRPr sz="13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49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38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</a:t>
                      </a:r>
                      <a:endParaRPr sz="13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49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1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高手廳「當週遊戲」一星極威卡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1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高手廳「當週遊戲」一星威力卡+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1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高手廳「當週遊戲」一星威力卡</a:t>
                      </a:r>
                      <a:endParaRPr sz="1200" b="1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1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5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38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3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6923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38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抽出人數</a:t>
                      </a:r>
                      <a:endParaRPr sz="13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692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38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Microsoft JhengHei"/>
                        <a:buNone/>
                      </a:pPr>
                      <a:r>
                        <a:rPr lang="en-US" sz="13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</a:t>
                      </a:r>
                      <a:endParaRPr sz="13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692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1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一般廳「當週遊戲」一星極威卡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1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一般廳「當週遊戲」一星威力卡+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5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1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一般廳「當週遊戲」一星威力卡</a:t>
                      </a:r>
                      <a:endParaRPr sz="1200" b="1" i="0" u="none" strike="noStrike" cap="none">
                        <a:solidFill>
                          <a:srgbClr val="00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2700" marR="627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1"/>
          <p:cNvSpPr txBox="1"/>
          <p:nvPr/>
        </p:nvSpPr>
        <p:spPr>
          <a:xfrm>
            <a:off x="179512" y="107340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&lt;天天衝等&gt;每日遊戲</a:t>
            </a:r>
            <a:endParaRPr/>
          </a:p>
        </p:txBody>
      </p:sp>
      <p:graphicFrame>
        <p:nvGraphicFramePr>
          <p:cNvPr id="231" name="Google Shape;231;p61"/>
          <p:cNvGraphicFramePr/>
          <p:nvPr>
            <p:extLst>
              <p:ext uri="{D42A27DB-BD31-4B8C-83A1-F6EECF244321}">
                <p14:modId xmlns:p14="http://schemas.microsoft.com/office/powerpoint/2010/main" val="3992257143"/>
              </p:ext>
            </p:extLst>
          </p:nvPr>
        </p:nvGraphicFramePr>
        <p:xfrm>
          <a:off x="179512" y="692696"/>
          <a:ext cx="3252975" cy="43049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0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日期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指定遊戲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01/24(一)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亞瑟王(黃金版)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01/25(二)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亞瑟王(黃金版)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01/26(三)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亞瑟王(黃金版)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01/28(五)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麻雀無雙(黃金版)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01/29(六)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台灣黑熊(黃金版)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01/30(日)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亞瑟王(黃金版) 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01/31(一)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拿破崙(黃金版)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02/01(二)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麻雀無雙(黃金版)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02/02(三)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台灣黑熊(黃金版)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02/03(四)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亞瑟王(黃金版) 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02/04(五)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麻雀無雙(黃金版)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02/05(六)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拿破崙(黃金版)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02/06(日)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台灣黑熊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黃金版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32" name="Google Shape;232;p61"/>
          <p:cNvGraphicFramePr/>
          <p:nvPr>
            <p:extLst>
              <p:ext uri="{D42A27DB-BD31-4B8C-83A1-F6EECF244321}">
                <p14:modId xmlns:p14="http://schemas.microsoft.com/office/powerpoint/2010/main" val="989204545"/>
              </p:ext>
            </p:extLst>
          </p:nvPr>
        </p:nvGraphicFramePr>
        <p:xfrm>
          <a:off x="4067944" y="692696"/>
          <a:ext cx="3252975" cy="15680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0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廳館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門檻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傳奇廳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單把贏分1,500,000分以上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單把贏分500,000分以上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單把贏分125,000分以上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單把贏分25,000分以上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" name="Google Shape;238;p63"/>
          <p:cNvGraphicFramePr/>
          <p:nvPr/>
        </p:nvGraphicFramePr>
        <p:xfrm>
          <a:off x="194075" y="692696"/>
          <a:ext cx="8208950" cy="3406526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09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龍榜</a:t>
                      </a: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體驗廳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5,000,000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1,500,000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2,500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1,800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1,600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1,200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39" name="Google Shape;239;p63"/>
          <p:cNvSpPr txBox="1"/>
          <p:nvPr/>
        </p:nvSpPr>
        <p:spPr>
          <a:xfrm>
            <a:off x="179512" y="116632"/>
            <a:ext cx="187220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主打榜</a:t>
            </a:r>
            <a:endParaRPr/>
          </a:p>
        </p:txBody>
      </p:sp>
      <p:graphicFrame>
        <p:nvGraphicFramePr>
          <p:cNvPr id="240" name="Google Shape;240;p63"/>
          <p:cNvGraphicFramePr/>
          <p:nvPr/>
        </p:nvGraphicFramePr>
        <p:xfrm>
          <a:off x="190046" y="3717032"/>
          <a:ext cx="8208950" cy="3406526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09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FFFF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虎榜</a:t>
                      </a: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體驗廳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350,000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35,000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35,000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350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10,000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8"/>
          <p:cNvSpPr txBox="1"/>
          <p:nvPr/>
        </p:nvSpPr>
        <p:spPr>
          <a:xfrm>
            <a:off x="179512" y="107340"/>
            <a:ext cx="26643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牌桌返水</a:t>
            </a:r>
            <a:endParaRPr sz="1800" b="1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46" name="Google Shape;246;p68"/>
          <p:cNvGraphicFramePr/>
          <p:nvPr>
            <p:extLst>
              <p:ext uri="{D42A27DB-BD31-4B8C-83A1-F6EECF244321}">
                <p14:modId xmlns:p14="http://schemas.microsoft.com/office/powerpoint/2010/main" val="1645155518"/>
              </p:ext>
            </p:extLst>
          </p:nvPr>
        </p:nvGraphicFramePr>
        <p:xfrm>
          <a:off x="1835696" y="2276872"/>
          <a:ext cx="4248475" cy="18323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86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獎勵門檻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累積押注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獎勵回饋百分比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0.20%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0.25%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0.30%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0.40%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0.50%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1"/>
          <p:cNvSpPr txBox="1"/>
          <p:nvPr/>
        </p:nvSpPr>
        <p:spPr>
          <a:xfrm>
            <a:off x="179512" y="107340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魚機天天押碼</a:t>
            </a:r>
            <a:endParaRPr dirty="0"/>
          </a:p>
        </p:txBody>
      </p:sp>
      <p:graphicFrame>
        <p:nvGraphicFramePr>
          <p:cNvPr id="252" name="Google Shape;252;p71"/>
          <p:cNvGraphicFramePr/>
          <p:nvPr>
            <p:extLst>
              <p:ext uri="{D42A27DB-BD31-4B8C-83A1-F6EECF244321}">
                <p14:modId xmlns:p14="http://schemas.microsoft.com/office/powerpoint/2010/main" val="151020076"/>
              </p:ext>
            </p:extLst>
          </p:nvPr>
        </p:nvGraphicFramePr>
        <p:xfrm>
          <a:off x="611560" y="764704"/>
          <a:ext cx="3269925" cy="39610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6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每日魚機累積押碼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40,000,000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高手廳10星釣竿卡1張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32,000,000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高手廳8星釣竿卡1張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高手廳6星釣竿卡1張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18,000,000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高手廳4星釣竿卡1張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高手廳1星釣竿卡1張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一般廳10星釣竿卡1張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一般廳8星釣竿卡1張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一般廳6星釣竿卡1張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一般廳4星釣竿卡1張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一般廳2星釣竿卡1張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一般廳1星釣竿卡1張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體驗廳10星釣竿卡1張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Google Shape;251;p71">
            <a:extLst>
              <a:ext uri="{FF2B5EF4-FFF2-40B4-BE49-F238E27FC236}">
                <a16:creationId xmlns:a16="http://schemas.microsoft.com/office/drawing/2014/main" id="{02EBCCCE-9D89-4AD4-91AA-6BAE60CBF097}"/>
              </a:ext>
            </a:extLst>
          </p:cNvPr>
          <p:cNvSpPr txBox="1"/>
          <p:nvPr/>
        </p:nvSpPr>
        <p:spPr>
          <a:xfrm>
            <a:off x="5772444" y="107340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魚機天天押碼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2"/>
          <p:cNvSpPr txBox="1"/>
          <p:nvPr/>
        </p:nvSpPr>
        <p:spPr>
          <a:xfrm>
            <a:off x="179512" y="107340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8點檔賽鴿&lt;每登&gt;</a:t>
            </a:r>
            <a:endParaRPr sz="1800" b="1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58" name="Google Shape;258;p72"/>
          <p:cNvGraphicFramePr/>
          <p:nvPr/>
        </p:nvGraphicFramePr>
        <p:xfrm>
          <a:off x="719572" y="764704"/>
          <a:ext cx="4248475" cy="15282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86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VIP等級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獲得賽鴿等級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獲得賽鴿數量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鑽卡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鑽鴿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1隻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白金卡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金鴿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1隻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銀鴿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2隻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銀卡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銀鴿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1隻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9" name="Google Shape;259;p72"/>
          <p:cNvSpPr txBox="1"/>
          <p:nvPr/>
        </p:nvSpPr>
        <p:spPr>
          <a:xfrm>
            <a:off x="179512" y="3059668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8點檔賽鴿&lt;押碼&gt;</a:t>
            </a:r>
            <a:endParaRPr sz="1800" b="1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60" name="Google Shape;260;p72"/>
          <p:cNvGraphicFramePr/>
          <p:nvPr/>
        </p:nvGraphicFramePr>
        <p:xfrm>
          <a:off x="719572" y="3707741"/>
          <a:ext cx="4248475" cy="12241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86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賽鴿等級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押碼分數 / 隻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獲得賽鴿上限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鑽鴿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500萬 / 隻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無上限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金鴿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100萬 / 隻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30隻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銀鴿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10萬 / 隻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30隻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3"/>
          <p:cNvSpPr txBox="1"/>
          <p:nvPr/>
        </p:nvSpPr>
        <p:spPr>
          <a:xfrm>
            <a:off x="179512" y="107340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8點檔賽鴿&lt;押碼加乘&gt;</a:t>
            </a:r>
            <a:endParaRPr sz="1800" b="1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66" name="Google Shape;266;p73"/>
          <p:cNvGraphicFramePr/>
          <p:nvPr>
            <p:extLst>
              <p:ext uri="{D42A27DB-BD31-4B8C-83A1-F6EECF244321}">
                <p14:modId xmlns:p14="http://schemas.microsoft.com/office/powerpoint/2010/main" val="297357851"/>
              </p:ext>
            </p:extLst>
          </p:nvPr>
        </p:nvGraphicFramePr>
        <p:xfrm>
          <a:off x="179512" y="692696"/>
          <a:ext cx="3378900" cy="36569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5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遊戲項目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押碼乘倍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老虎機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尊榮百家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0.2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骰寶爆爆樂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0.2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百倍大輪盤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0.2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尊爵21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真人百家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0.2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真人輪盤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0.2倍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財神捕魚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激鬥海皇-黃金釣手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海皇爭霸-龍鳳傳說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刮刮卡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 倍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67" name="Google Shape;267;p73"/>
          <p:cNvSpPr txBox="1"/>
          <p:nvPr/>
        </p:nvSpPr>
        <p:spPr>
          <a:xfrm>
            <a:off x="4067944" y="107340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8點檔賽鴿&lt;獎勵表1&gt;</a:t>
            </a:r>
            <a:endParaRPr sz="1800" b="1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68" name="Google Shape;268;p73"/>
          <p:cNvGraphicFramePr/>
          <p:nvPr>
            <p:extLst>
              <p:ext uri="{D42A27DB-BD31-4B8C-83A1-F6EECF244321}">
                <p14:modId xmlns:p14="http://schemas.microsoft.com/office/powerpoint/2010/main" val="47260577"/>
              </p:ext>
            </p:extLst>
          </p:nvPr>
        </p:nvGraphicFramePr>
        <p:xfrm>
          <a:off x="4067944" y="692696"/>
          <a:ext cx="3378900" cy="42651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5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獎項名稱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獎勵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鑽鴿特獎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 紫卡包 X1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金鴿特獎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 紫卡包 X1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銀鴿特獎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紫卡包 X1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第1名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 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第2名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2,000 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第3名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 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第4名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 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第5名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 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第6~10名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 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第11~20名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 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第21~30名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 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第31~40名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 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第41~50名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 </a:t>
                      </a: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寶石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4"/>
          <p:cNvSpPr txBox="1"/>
          <p:nvPr/>
        </p:nvSpPr>
        <p:spPr>
          <a:xfrm>
            <a:off x="107504" y="107340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8點檔賽鴿&lt;獎勵表2&gt;</a:t>
            </a:r>
            <a:endParaRPr sz="1800" b="1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74" name="Google Shape;274;p74"/>
          <p:cNvGraphicFramePr/>
          <p:nvPr>
            <p:extLst>
              <p:ext uri="{D42A27DB-BD31-4B8C-83A1-F6EECF244321}">
                <p14:modId xmlns:p14="http://schemas.microsoft.com/office/powerpoint/2010/main" val="18284543"/>
              </p:ext>
            </p:extLst>
          </p:nvPr>
        </p:nvGraphicFramePr>
        <p:xfrm>
          <a:off x="107504" y="692696"/>
          <a:ext cx="3378900" cy="42651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5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獎項名稱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獎勵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鑽鴿特獎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 紫卡包 X1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金鴿特獎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 紫卡包 X1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銀鴿特獎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 紫卡包 X1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第1名</a:t>
                      </a:r>
                      <a:endParaRPr sz="12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 寶石</a:t>
                      </a:r>
                      <a:endParaRPr sz="1200" b="1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第2名</a:t>
                      </a:r>
                      <a:endParaRPr sz="1200" b="1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2,000 寶石</a:t>
                      </a:r>
                      <a:endParaRPr sz="1200" b="1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第3名</a:t>
                      </a:r>
                      <a:endParaRPr sz="12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 寶石</a:t>
                      </a:r>
                      <a:endParaRPr sz="1200" b="1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第4名</a:t>
                      </a:r>
                      <a:endParaRPr sz="1200" b="1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寶石</a:t>
                      </a:r>
                      <a:endParaRPr sz="12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第5名</a:t>
                      </a:r>
                      <a:endParaRPr sz="1200" b="1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寶石</a:t>
                      </a:r>
                      <a:endParaRPr sz="12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第6~10名</a:t>
                      </a:r>
                      <a:endParaRPr sz="1200" b="1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寶石</a:t>
                      </a:r>
                      <a:endParaRPr sz="12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第11~20名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 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第21~30名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 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第31~40名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 寶石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第41~50名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 </a:t>
                      </a: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寶石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9"/>
          <p:cNvSpPr txBox="1"/>
          <p:nvPr/>
        </p:nvSpPr>
        <p:spPr>
          <a:xfrm>
            <a:off x="179512" y="107340"/>
            <a:ext cx="432048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&lt;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通關地圖</a:t>
            </a: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&gt;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藏寶圖消耗量</a:t>
            </a:r>
            <a:endParaRPr dirty="0"/>
          </a:p>
        </p:txBody>
      </p:sp>
      <p:graphicFrame>
        <p:nvGraphicFramePr>
          <p:cNvPr id="280" name="Google Shape;280;p79"/>
          <p:cNvGraphicFramePr/>
          <p:nvPr>
            <p:extLst>
              <p:ext uri="{D42A27DB-BD31-4B8C-83A1-F6EECF244321}">
                <p14:modId xmlns:p14="http://schemas.microsoft.com/office/powerpoint/2010/main" val="2391279210"/>
              </p:ext>
            </p:extLst>
          </p:nvPr>
        </p:nvGraphicFramePr>
        <p:xfrm>
          <a:off x="179512" y="620688"/>
          <a:ext cx="4536500" cy="15680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223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地圖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移動一格所需藏寶圖數量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第一張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 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第二張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第三張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45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第四張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1" name="Google Shape;281;p79"/>
          <p:cNvSpPr txBox="1"/>
          <p:nvPr/>
        </p:nvSpPr>
        <p:spPr>
          <a:xfrm>
            <a:off x="172818" y="2339588"/>
            <a:ext cx="432048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&lt;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通關地圖</a:t>
            </a: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&gt;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藏寶圖獲取方法</a:t>
            </a:r>
            <a:endParaRPr dirty="0"/>
          </a:p>
        </p:txBody>
      </p:sp>
      <p:graphicFrame>
        <p:nvGraphicFramePr>
          <p:cNvPr id="282" name="Google Shape;282;p79"/>
          <p:cNvGraphicFramePr/>
          <p:nvPr>
            <p:extLst>
              <p:ext uri="{D42A27DB-BD31-4B8C-83A1-F6EECF244321}">
                <p14:modId xmlns:p14="http://schemas.microsoft.com/office/powerpoint/2010/main" val="3214396885"/>
              </p:ext>
            </p:extLst>
          </p:nvPr>
        </p:nvGraphicFramePr>
        <p:xfrm>
          <a:off x="179512" y="2797007"/>
          <a:ext cx="4536500" cy="15680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223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VIP卡別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藏寶圖數量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鑽石卡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 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白金卡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 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 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銀卡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 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3" name="Google Shape;283;p79"/>
          <p:cNvSpPr txBox="1"/>
          <p:nvPr/>
        </p:nvSpPr>
        <p:spPr>
          <a:xfrm>
            <a:off x="325218" y="4501738"/>
            <a:ext cx="43206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麒麟榜排名</a:t>
            </a:r>
            <a:endParaRPr/>
          </a:p>
        </p:txBody>
      </p:sp>
      <p:graphicFrame>
        <p:nvGraphicFramePr>
          <p:cNvPr id="284" name="Google Shape;284;p79"/>
          <p:cNvGraphicFramePr/>
          <p:nvPr>
            <p:extLst>
              <p:ext uri="{D42A27DB-BD31-4B8C-83A1-F6EECF244321}">
                <p14:modId xmlns:p14="http://schemas.microsoft.com/office/powerpoint/2010/main" val="3677940949"/>
              </p:ext>
            </p:extLst>
          </p:nvPr>
        </p:nvGraphicFramePr>
        <p:xfrm>
          <a:off x="325237" y="5007757"/>
          <a:ext cx="4536500" cy="12639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223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排名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一般廳3星紫卡包1包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一般廳3星紅卡包1包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體驗廳5星紅卡包1包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71df854c23_1_0"/>
          <p:cNvSpPr txBox="1"/>
          <p:nvPr/>
        </p:nvSpPr>
        <p:spPr>
          <a:xfrm>
            <a:off x="172818" y="4437112"/>
            <a:ext cx="43206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&lt;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通關地圖</a:t>
            </a: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&gt;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藏寶圖使用限制</a:t>
            </a: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無傳奇</a:t>
            </a:r>
            <a:endParaRPr dirty="0"/>
          </a:p>
        </p:txBody>
      </p:sp>
      <p:graphicFrame>
        <p:nvGraphicFramePr>
          <p:cNvPr id="290" name="Google Shape;290;g271df854c23_1_0"/>
          <p:cNvGraphicFramePr/>
          <p:nvPr>
            <p:extLst>
              <p:ext uri="{D42A27DB-BD31-4B8C-83A1-F6EECF244321}">
                <p14:modId xmlns:p14="http://schemas.microsoft.com/office/powerpoint/2010/main" val="2966155562"/>
              </p:ext>
            </p:extLst>
          </p:nvPr>
        </p:nvGraphicFramePr>
        <p:xfrm>
          <a:off x="179512" y="4941168"/>
          <a:ext cx="8784950" cy="15680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214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 1~</a:t>
                      </a:r>
                      <a:r>
                        <a:rPr lang="en-US" altLang="zh-TW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160</a:t>
                      </a:r>
                      <a:r>
                        <a:rPr lang="en-US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sz="14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張藏寶圖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 </a:t>
                      </a:r>
                      <a:r>
                        <a:rPr lang="en-US" altLang="zh-TW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161</a:t>
                      </a:r>
                      <a:r>
                        <a:rPr lang="en-US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~</a:t>
                      </a:r>
                      <a:r>
                        <a:rPr lang="en-US" altLang="zh-TW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  <a:r>
                        <a:rPr lang="en-US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sz="14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張藏寶圖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 </a:t>
                      </a:r>
                      <a:r>
                        <a:rPr lang="en-US" altLang="zh-TW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501</a:t>
                      </a:r>
                      <a:r>
                        <a:rPr lang="en-US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~</a:t>
                      </a:r>
                      <a:r>
                        <a:rPr lang="en-US" altLang="zh-TW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en-US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00 </a:t>
                      </a:r>
                      <a:r>
                        <a:rPr lang="en-US" sz="14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張藏寶圖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傳奇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廳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1569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不可獲得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不可獲得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不可獲得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1" name="Google Shape;291;g271df854c23_1_0"/>
          <p:cNvGraphicFramePr/>
          <p:nvPr>
            <p:extLst>
              <p:ext uri="{D42A27DB-BD31-4B8C-83A1-F6EECF244321}">
                <p14:modId xmlns:p14="http://schemas.microsoft.com/office/powerpoint/2010/main" val="4162953286"/>
              </p:ext>
            </p:extLst>
          </p:nvPr>
        </p:nvGraphicFramePr>
        <p:xfrm>
          <a:off x="110687" y="2062768"/>
          <a:ext cx="8784950" cy="15680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214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 1~20 張</a:t>
                      </a:r>
                      <a:r>
                        <a:rPr lang="zh-TW" altLang="en-US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壽桃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 21~90 </a:t>
                      </a:r>
                      <a:r>
                        <a:rPr lang="en-US" sz="14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張藏寶圖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第 91~300 </a:t>
                      </a:r>
                      <a:r>
                        <a:rPr lang="en-US" sz="14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張藏寶圖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傳奇廳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至尊廳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不可獲得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可獲得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不可獲得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不可獲得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2" name="Google Shape;292;g271df854c23_1_0"/>
          <p:cNvSpPr txBox="1"/>
          <p:nvPr/>
        </p:nvSpPr>
        <p:spPr>
          <a:xfrm>
            <a:off x="172818" y="1527987"/>
            <a:ext cx="43206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&lt;通關地圖&gt;藏寶圖使用限制(有傳奇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0"/>
          <p:cNvSpPr txBox="1"/>
          <p:nvPr/>
        </p:nvSpPr>
        <p:spPr>
          <a:xfrm>
            <a:off x="179512" y="107340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魚機3天天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捕魚</a:t>
            </a:r>
            <a:endParaRPr dirty="0"/>
          </a:p>
        </p:txBody>
      </p:sp>
      <p:graphicFrame>
        <p:nvGraphicFramePr>
          <p:cNvPr id="298" name="Google Shape;298;p80"/>
          <p:cNvGraphicFramePr/>
          <p:nvPr>
            <p:extLst>
              <p:ext uri="{D42A27DB-BD31-4B8C-83A1-F6EECF244321}">
                <p14:modId xmlns:p14="http://schemas.microsoft.com/office/powerpoint/2010/main" val="1484842984"/>
              </p:ext>
            </p:extLst>
          </p:nvPr>
        </p:nvGraphicFramePr>
        <p:xfrm>
          <a:off x="611560" y="764704"/>
          <a:ext cx="4392475" cy="39610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6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每日魚機累積押碼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40,000,000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海皇爭霸_高手廳10星隨機卡包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32,000,000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海皇爭霸_高手廳8星隨機卡包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海皇爭霸_高手廳6星隨機卡包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18,000,000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海皇爭霸_高手廳4星隨機卡包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海皇爭霸_高手廳1星隨機卡包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海皇爭霸_一般廳10星隨機卡包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海皇爭霸_一般廳8星隨機卡包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海皇爭霸_一般廳6星隨機卡包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海皇爭霸_一般廳4星隨機卡包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海皇爭霸_一般廳2星隨機卡包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海皇爭霸_一般廳1星隨機卡包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海皇爭霸_體驗廳10星隨機卡包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4" name="Google Shape;298;p80">
            <a:extLst>
              <a:ext uri="{FF2B5EF4-FFF2-40B4-BE49-F238E27FC236}">
                <a16:creationId xmlns:a16="http://schemas.microsoft.com/office/drawing/2014/main" id="{1A5B5C31-EEA2-4718-8C97-62AD101EA4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985789"/>
              </p:ext>
            </p:extLst>
          </p:nvPr>
        </p:nvGraphicFramePr>
        <p:xfrm>
          <a:off x="5227949" y="764704"/>
          <a:ext cx="4392475" cy="42651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6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每日魚機累積押碼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獎項內容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160,000,000</a:t>
                      </a:r>
                      <a:endParaRPr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高手廳10星隨機卡包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包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128,000,000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 隨機卡包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包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100,000,000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 隨機卡包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包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72,000,000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高手廳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 隨機卡包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包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44,000,000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高手廳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 隨機卡包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包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20,000,000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 隨機卡包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包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16,000,000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 隨機卡包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包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12,000,000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 隨機卡包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包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8,000,000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 隨機卡包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包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4,000,000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 隨機卡包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包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2,000,000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 隨機卡包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包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400,000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體驗廳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 隨機卡包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包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200,000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體驗廳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 隨機卡包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包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379647"/>
                  </a:ext>
                </a:extLst>
              </a:tr>
            </a:tbl>
          </a:graphicData>
        </a:graphic>
      </p:graphicFrame>
      <p:sp>
        <p:nvSpPr>
          <p:cNvPr id="5" name="Google Shape;297;p80">
            <a:extLst>
              <a:ext uri="{FF2B5EF4-FFF2-40B4-BE49-F238E27FC236}">
                <a16:creationId xmlns:a16="http://schemas.microsoft.com/office/drawing/2014/main" id="{0D7524AB-9A73-4DDC-AF29-95143CB00259}"/>
              </a:ext>
            </a:extLst>
          </p:cNvPr>
          <p:cNvSpPr txBox="1"/>
          <p:nvPr/>
        </p:nvSpPr>
        <p:spPr>
          <a:xfrm>
            <a:off x="5227949" y="107340"/>
            <a:ext cx="2664296" cy="3692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魚機</a:t>
            </a:r>
            <a:r>
              <a:rPr lang="en-US" altLang="zh-TW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天天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捕魚 戰游三國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2"/>
          <p:cNvSpPr txBox="1"/>
          <p:nvPr/>
        </p:nvSpPr>
        <p:spPr>
          <a:xfrm>
            <a:off x="179512" y="107340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競猜-積分加乘</a:t>
            </a:r>
            <a:endParaRPr sz="1800" b="1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304" name="Google Shape;304;p82"/>
          <p:cNvGraphicFramePr/>
          <p:nvPr/>
        </p:nvGraphicFramePr>
        <p:xfrm>
          <a:off x="179512" y="692696"/>
          <a:ext cx="3378900" cy="39610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5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遊戲項目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積分乘倍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老虎機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尊榮百家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0.2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骰寶爆爆樂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0.2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百倍大輪盤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0.2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尊爵21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真人百家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0.2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真人輪盤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0.2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財神捕魚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激鬥海皇-黃金釣手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海皇爭霸-龍鳳傳說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海皇爭霸2-奪寶之戰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刮刮卡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 倍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05" name="Google Shape;305;p82"/>
          <p:cNvSpPr txBox="1"/>
          <p:nvPr/>
        </p:nvSpPr>
        <p:spPr>
          <a:xfrm>
            <a:off x="4067944" y="107340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競猜-登入獲得數量</a:t>
            </a:r>
            <a:endParaRPr sz="1800" b="1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306" name="Google Shape;306;p82"/>
          <p:cNvGraphicFramePr/>
          <p:nvPr>
            <p:extLst>
              <p:ext uri="{D42A27DB-BD31-4B8C-83A1-F6EECF244321}">
                <p14:modId xmlns:p14="http://schemas.microsoft.com/office/powerpoint/2010/main" val="3716209413"/>
              </p:ext>
            </p:extLst>
          </p:nvPr>
        </p:nvGraphicFramePr>
        <p:xfrm>
          <a:off x="4067944" y="692696"/>
          <a:ext cx="3378900" cy="12241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5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VIP卡別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競猜券數量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鑽石卡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白金卡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金卡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8"/>
          <p:cNvSpPr txBox="1"/>
          <p:nvPr/>
        </p:nvSpPr>
        <p:spPr>
          <a:xfrm>
            <a:off x="179512" y="116632"/>
            <a:ext cx="1872208" cy="64633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魚王積分計算</a:t>
            </a: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(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財神捕魚</a:t>
            </a: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312" name="Google Shape;312;p98"/>
          <p:cNvGraphicFramePr/>
          <p:nvPr/>
        </p:nvGraphicFramePr>
        <p:xfrm>
          <a:off x="107504" y="938590"/>
          <a:ext cx="7056750" cy="3819844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7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高手廳</a:t>
                      </a:r>
                      <a:endParaRPr sz="160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押注額度)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財神降臨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財神發發發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財運轉輪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一般廳</a:t>
                      </a:r>
                      <a:endParaRPr sz="1600" dirty="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財神降臨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財神發發發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財運轉輪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體驗廳</a:t>
                      </a:r>
                      <a:endParaRPr sz="160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押注額度)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財神降臨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財神發發發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財運轉輪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 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 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 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700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850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1,200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1,600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1,800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2,000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en-US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en-US" sz="12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積分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" name="Google Shape;317;g27098471c7d_4_24"/>
          <p:cNvGraphicFramePr/>
          <p:nvPr>
            <p:extLst>
              <p:ext uri="{D42A27DB-BD31-4B8C-83A1-F6EECF244321}">
                <p14:modId xmlns:p14="http://schemas.microsoft.com/office/powerpoint/2010/main" val="2021623267"/>
              </p:ext>
            </p:extLst>
          </p:nvPr>
        </p:nvGraphicFramePr>
        <p:xfrm>
          <a:off x="251520" y="990214"/>
          <a:ext cx="8587680" cy="4934876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934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1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0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17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7979">
                  <a:extLst>
                    <a:ext uri="{9D8B030D-6E8A-4147-A177-3AD203B41FA5}">
                      <a16:colId xmlns:a16="http://schemas.microsoft.com/office/drawing/2014/main" val="3286359157"/>
                    </a:ext>
                  </a:extLst>
                </a:gridCol>
              </a:tblGrid>
              <a:tr h="131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體驗廳</a:t>
                      </a:r>
                      <a:endParaRPr sz="160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押注額度)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一般廳</a:t>
                      </a:r>
                      <a:endParaRPr sz="1600" dirty="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高手廳</a:t>
                      </a:r>
                      <a:endParaRPr sz="1600" dirty="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電磁蟹</a:t>
                      </a:r>
                      <a:endParaRPr sz="1600"/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帝王蟹</a:t>
                      </a:r>
                      <a:endParaRPr sz="160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波賽頓</a:t>
                      </a:r>
                      <a:endParaRPr sz="1600"/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海神龍</a:t>
                      </a:r>
                      <a:endParaRPr sz="1600"/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金臂帝王蟹</a:t>
                      </a:r>
                      <a:endParaRPr sz="1600"/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熔岩八爪怪</a:t>
                      </a:r>
                      <a:endParaRPr sz="1600"/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闇夜燈籠魚</a:t>
                      </a:r>
                      <a:endParaRPr sz="1600"/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白星美人魚</a:t>
                      </a:r>
                      <a:endParaRPr sz="160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/>
                        <a:t>赤焰鳳凰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dirty="0" err="1"/>
                        <a:t>水靈龍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altLang="en-US" sz="16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哈洛威騎士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55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700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850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1,200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21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1,600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24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1,800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27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2,000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</a:t>
                      </a:r>
                      <a:r>
                        <a:rPr lang="en-US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18" name="Google Shape;318;g27098471c7d_4_24"/>
          <p:cNvSpPr txBox="1"/>
          <p:nvPr/>
        </p:nvSpPr>
        <p:spPr>
          <a:xfrm>
            <a:off x="179497" y="116625"/>
            <a:ext cx="2309400" cy="64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魚王積分-海皇爭霸-龍鳳傳說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8A26D156-02D2-8974-3CAF-E6A108D31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" name="Google Shape;317;g27098471c7d_4_24">
            <a:extLst>
              <a:ext uri="{FF2B5EF4-FFF2-40B4-BE49-F238E27FC236}">
                <a16:creationId xmlns:a16="http://schemas.microsoft.com/office/drawing/2014/main" id="{843EFE01-A079-B0D7-B71B-58E09E86C4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1548160"/>
              </p:ext>
            </p:extLst>
          </p:nvPr>
        </p:nvGraphicFramePr>
        <p:xfrm>
          <a:off x="251520" y="990214"/>
          <a:ext cx="7894260" cy="4402625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853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3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3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3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3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0683">
                  <a:extLst>
                    <a:ext uri="{9D8B030D-6E8A-4147-A177-3AD203B41FA5}">
                      <a16:colId xmlns:a16="http://schemas.microsoft.com/office/drawing/2014/main" val="162091305"/>
                    </a:ext>
                  </a:extLst>
                </a:gridCol>
              </a:tblGrid>
              <a:tr h="131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體驗廳</a:t>
                      </a:r>
                      <a:endParaRPr sz="160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押注額度)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一般廳</a:t>
                      </a:r>
                      <a:endParaRPr sz="1600" dirty="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高手廳</a:t>
                      </a:r>
                      <a:endParaRPr sz="1600" dirty="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600" dirty="0"/>
                        <a:t>龍王砲</a:t>
                      </a:r>
                      <a:endParaRPr lang="en-US" altLang="zh-TW" sz="1600" dirty="0"/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600" dirty="0"/>
                        <a:t>鑽頭砲</a:t>
                      </a:r>
                      <a:endParaRPr sz="1600"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600" dirty="0"/>
                        <a:t>珊瑚赤蟹</a:t>
                      </a:r>
                      <a:endParaRPr lang="en-US" altLang="zh-TW" sz="1600" dirty="0"/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600" dirty="0"/>
                        <a:t>深淵旗魚</a:t>
                      </a:r>
                      <a:endParaRPr lang="en-US" altLang="zh-TW" sz="1600" dirty="0"/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600" dirty="0"/>
                        <a:t>遺跡巨魷</a:t>
                      </a:r>
                      <a:endParaRPr lang="en-US" altLang="zh-TW" sz="1600" dirty="0"/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600" dirty="0"/>
                        <a:t>藏寶虎鯊</a:t>
                      </a:r>
                      <a:endParaRPr sz="1600"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600" dirty="0"/>
                        <a:t>上古神龍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altLang="en-US" sz="16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冰川錦鯉</a:t>
                      </a:r>
                      <a:endParaRPr lang="en-US" altLang="zh-TW"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altLang="en-US" sz="16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熔岩金蟾</a:t>
                      </a:r>
                      <a:endParaRPr lang="en-US" altLang="zh-TW"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altLang="zh-TW" sz="16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zh-TW" altLang="en-US" sz="16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擊殺者</a:t>
                      </a:r>
                      <a:r>
                        <a:rPr lang="en-US" altLang="zh-TW" sz="16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altLang="en-US" sz="16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哈洛威騎士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700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</a:t>
                      </a: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850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1,200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en-US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</a:t>
                      </a:r>
                      <a:r>
                        <a:rPr lang="en-US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21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1,600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en-US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24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1,800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r>
                        <a:rPr lang="en-US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27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2,000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en-US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</a:t>
                      </a: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</a:t>
                      </a:r>
                      <a:r>
                        <a:rPr lang="en-US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18" name="Google Shape;318;g27098471c7d_4_24">
            <a:extLst>
              <a:ext uri="{FF2B5EF4-FFF2-40B4-BE49-F238E27FC236}">
                <a16:creationId xmlns:a16="http://schemas.microsoft.com/office/drawing/2014/main" id="{03ABECFA-E7E6-276B-A310-44020D2E2F09}"/>
              </a:ext>
            </a:extLst>
          </p:cNvPr>
          <p:cNvSpPr txBox="1"/>
          <p:nvPr/>
        </p:nvSpPr>
        <p:spPr>
          <a:xfrm>
            <a:off x="179497" y="116625"/>
            <a:ext cx="2309400" cy="3692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魚王積分</a:t>
            </a: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黃金釣手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219233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3" name="Google Shape;323;p88"/>
          <p:cNvGraphicFramePr/>
          <p:nvPr>
            <p:extLst>
              <p:ext uri="{D42A27DB-BD31-4B8C-83A1-F6EECF244321}">
                <p14:modId xmlns:p14="http://schemas.microsoft.com/office/powerpoint/2010/main" val="2177197429"/>
              </p:ext>
            </p:extLst>
          </p:nvPr>
        </p:nvGraphicFramePr>
        <p:xfrm>
          <a:off x="251520" y="990214"/>
          <a:ext cx="7776824" cy="4589545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985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4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4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48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4859">
                  <a:extLst>
                    <a:ext uri="{9D8B030D-6E8A-4147-A177-3AD203B41FA5}">
                      <a16:colId xmlns:a16="http://schemas.microsoft.com/office/drawing/2014/main" val="3247973462"/>
                    </a:ext>
                  </a:extLst>
                </a:gridCol>
              </a:tblGrid>
              <a:tr h="131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體驗廳</a:t>
                      </a:r>
                      <a:endParaRPr sz="1600" dirty="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一般廳</a:t>
                      </a:r>
                      <a:endParaRPr sz="1600" dirty="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高手廳</a:t>
                      </a:r>
                      <a:endParaRPr sz="1600" dirty="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電磁蟹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鑽頭蟹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海神龍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金臂帝王蟹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闇夜燈籠魚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白星美人魚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奪寶女王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赤焰鳳凰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altLang="en-US" sz="16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哈洛威騎士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1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600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2積分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700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9積分</a:t>
                      </a:r>
                      <a:endParaRPr sz="14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850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1,200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12積分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3.5</a:t>
                      </a:r>
                      <a:endParaRPr sz="1200" b="1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1,400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14積分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21積分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200" b="1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1,600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16積分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24積分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4.5</a:t>
                      </a:r>
                      <a:endParaRPr sz="1200" b="1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1,800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18積分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27積分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2,000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20積分</a:t>
                      </a:r>
                      <a:endParaRPr sz="14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積分</a:t>
                      </a:r>
                      <a:endParaRPr sz="14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24" name="Google Shape;324;p88"/>
          <p:cNvSpPr txBox="1"/>
          <p:nvPr/>
        </p:nvSpPr>
        <p:spPr>
          <a:xfrm>
            <a:off x="179512" y="116632"/>
            <a:ext cx="1872300" cy="64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魚王積分-海皇爭霸2-奪寶之戰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>
          <a:extLst>
            <a:ext uri="{FF2B5EF4-FFF2-40B4-BE49-F238E27FC236}">
              <a16:creationId xmlns:a16="http://schemas.microsoft.com/office/drawing/2014/main" id="{EB6D16FD-BEDF-DB41-D1B3-6DE11DC55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3" name="Google Shape;323;p88">
            <a:extLst>
              <a:ext uri="{FF2B5EF4-FFF2-40B4-BE49-F238E27FC236}">
                <a16:creationId xmlns:a16="http://schemas.microsoft.com/office/drawing/2014/main" id="{9232BA44-4782-3987-D7E1-26CF6EABCC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0596351"/>
              </p:ext>
            </p:extLst>
          </p:nvPr>
        </p:nvGraphicFramePr>
        <p:xfrm>
          <a:off x="251520" y="990214"/>
          <a:ext cx="7776824" cy="445532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985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4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4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48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4859">
                  <a:extLst>
                    <a:ext uri="{9D8B030D-6E8A-4147-A177-3AD203B41FA5}">
                      <a16:colId xmlns:a16="http://schemas.microsoft.com/office/drawing/2014/main" val="3768502350"/>
                    </a:ext>
                  </a:extLst>
                </a:gridCol>
              </a:tblGrid>
              <a:tr h="131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600" dirty="0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高手廳</a:t>
                      </a:r>
                      <a:endParaRPr sz="1600" dirty="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一般廳</a:t>
                      </a:r>
                      <a:endParaRPr sz="1600" dirty="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體驗廳</a:t>
                      </a:r>
                      <a:endParaRPr sz="1600" dirty="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600" dirty="0"/>
                        <a:t>葫蘆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altLang="en-US" sz="1600" dirty="0"/>
                        <a:t>許褚</a:t>
                      </a: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貂蟬</a:t>
                      </a:r>
                      <a:endParaRPr lang="zh-TW" altLang="en-US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t"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張飛</a:t>
                      </a:r>
                      <a:endParaRPr lang="zh-TW" altLang="en-US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rtl="0" fontAlgn="t"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周瑜</a:t>
                      </a:r>
                      <a:endParaRPr lang="zh-TW" altLang="en-US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張角</a:t>
                      </a:r>
                      <a:endParaRPr lang="en-US" altLang="zh-TW" sz="1600" b="1" i="0" u="none" strike="noStrike" dirty="0">
                        <a:solidFill>
                          <a:schemeClr val="bg1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 rtl="0" fontAlgn="t"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孔明</a:t>
                      </a:r>
                      <a:endParaRPr lang="en-US" altLang="zh-TW" sz="1600" b="1" i="0" u="none" strike="noStrike" dirty="0">
                        <a:solidFill>
                          <a:schemeClr val="bg1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 rtl="0" fontAlgn="t">
                        <a:lnSpc>
                          <a:spcPct val="150000"/>
                        </a:lnSpc>
                        <a:buNone/>
                      </a:pPr>
                      <a:r>
                        <a:rPr lang="zh-TW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關羽呂布</a:t>
                      </a:r>
                      <a:endParaRPr lang="zh-TW" altLang="en-US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500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0.5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600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40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700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60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1.5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60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4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850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40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80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1,000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2.5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50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100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1,200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120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60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120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1,400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140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3.5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70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140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1,600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160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80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160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1,800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180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4.5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90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180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b="1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2,000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200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100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200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積分</a:t>
                      </a:r>
                      <a:endParaRPr lang="zh-TW" altLang="en-US" b="1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24" name="Google Shape;324;p88">
            <a:extLst>
              <a:ext uri="{FF2B5EF4-FFF2-40B4-BE49-F238E27FC236}">
                <a16:creationId xmlns:a16="http://schemas.microsoft.com/office/drawing/2014/main" id="{AB003380-38B3-F522-387B-BFCF9F1731AF}"/>
              </a:ext>
            </a:extLst>
          </p:cNvPr>
          <p:cNvSpPr txBox="1"/>
          <p:nvPr/>
        </p:nvSpPr>
        <p:spPr>
          <a:xfrm>
            <a:off x="179512" y="116632"/>
            <a:ext cx="1872300" cy="64629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魚王積分</a:t>
            </a: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戰游三國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4A8D7D5-E90C-C8DA-36E0-71BC0D6F5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8303"/>
              </p:ext>
            </p:extLst>
          </p:nvPr>
        </p:nvGraphicFramePr>
        <p:xfrm>
          <a:off x="-1488142" y="1295400"/>
          <a:ext cx="1166525" cy="4402625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66525">
                  <a:extLst>
                    <a:ext uri="{9D8B030D-6E8A-4147-A177-3AD203B41FA5}">
                      <a16:colId xmlns:a16="http://schemas.microsoft.com/office/drawing/2014/main" val="3986173066"/>
                    </a:ext>
                  </a:extLst>
                </a:gridCol>
              </a:tblGrid>
              <a:tr h="131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FF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體驗廳</a:t>
                      </a:r>
                      <a:endParaRPr sz="1600" dirty="0">
                        <a:solidFill>
                          <a:srgbClr val="FF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531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848182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1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841288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129104"/>
                  </a:ext>
                </a:extLst>
              </a:tr>
              <a:tr h="353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075073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2.5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979897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361239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3.5</a:t>
                      </a:r>
                      <a:endParaRPr sz="1200" b="1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81173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200" b="1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632776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4.5</a:t>
                      </a:r>
                      <a:endParaRPr sz="1200" b="1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223300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358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9311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3" name="Google Shape;323;p88"/>
          <p:cNvGraphicFramePr/>
          <p:nvPr>
            <p:extLst>
              <p:ext uri="{D42A27DB-BD31-4B8C-83A1-F6EECF244321}">
                <p14:modId xmlns:p14="http://schemas.microsoft.com/office/powerpoint/2010/main" val="447312522"/>
              </p:ext>
            </p:extLst>
          </p:nvPr>
        </p:nvGraphicFramePr>
        <p:xfrm>
          <a:off x="251520" y="867682"/>
          <a:ext cx="5443775" cy="3501486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6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8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高手廳</a:t>
                      </a:r>
                      <a:endParaRPr sz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6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一般廳</a:t>
                      </a:r>
                      <a:endParaRPr sz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體驗廳</a:t>
                      </a:r>
                      <a:endParaRPr sz="12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en-US"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押注額度</a:t>
                      </a:r>
                      <a:r>
                        <a:rPr 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)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嫦娥賞月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6C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0.5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600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700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1.5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850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80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</a:t>
                      </a:r>
                      <a:r>
                        <a:rPr 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1,000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2.5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5積分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1,200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120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</a:t>
                      </a:r>
                      <a:r>
                        <a:rPr 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1,400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140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3.5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7</a:t>
                      </a:r>
                      <a:r>
                        <a:rPr 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1,600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160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8</a:t>
                      </a:r>
                      <a:r>
                        <a:rPr 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1,800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180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4.5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9</a:t>
                      </a:r>
                      <a:r>
                        <a:rPr 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2,000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200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積分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24" name="Google Shape;324;p88"/>
          <p:cNvSpPr txBox="1"/>
          <p:nvPr/>
        </p:nvSpPr>
        <p:spPr>
          <a:xfrm>
            <a:off x="179512" y="116632"/>
            <a:ext cx="1872300" cy="64629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魚王積分</a:t>
            </a:r>
            <a:r>
              <a:rPr lang="en-US" altLang="zh-TW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活動海皇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" name="Google Shape;346;g27098471c7d_6_25">
            <a:extLst>
              <a:ext uri="{FF2B5EF4-FFF2-40B4-BE49-F238E27FC236}">
                <a16:creationId xmlns:a16="http://schemas.microsoft.com/office/drawing/2014/main" id="{1EA8322A-2457-42F6-864E-50958EDD606A}"/>
              </a:ext>
            </a:extLst>
          </p:cNvPr>
          <p:cNvSpPr txBox="1"/>
          <p:nvPr/>
        </p:nvSpPr>
        <p:spPr>
          <a:xfrm>
            <a:off x="5975632" y="4324677"/>
            <a:ext cx="26643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產包</a:t>
            </a:r>
            <a:endParaRPr dirty="0"/>
          </a:p>
        </p:txBody>
      </p:sp>
      <p:graphicFrame>
        <p:nvGraphicFramePr>
          <p:cNvPr id="5" name="Google Shape;330;p21">
            <a:extLst>
              <a:ext uri="{FF2B5EF4-FFF2-40B4-BE49-F238E27FC236}">
                <a16:creationId xmlns:a16="http://schemas.microsoft.com/office/drawing/2014/main" id="{D230B239-9516-45A6-AE98-97CEB12671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6057280"/>
              </p:ext>
            </p:extLst>
          </p:nvPr>
        </p:nvGraphicFramePr>
        <p:xfrm>
          <a:off x="179512" y="4732765"/>
          <a:ext cx="8702079" cy="192786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235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4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7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2470">
                  <a:extLst>
                    <a:ext uri="{9D8B030D-6E8A-4147-A177-3AD203B41FA5}">
                      <a16:colId xmlns:a16="http://schemas.microsoft.com/office/drawing/2014/main" val="965893022"/>
                    </a:ext>
                  </a:extLst>
                </a:gridCol>
              </a:tblGrid>
              <a:tr h="48196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  <a:endParaRPr lang="zh-TW" altLang="en-US" sz="1400" b="1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指定儲值面額</a:t>
                      </a:r>
                      <a:endParaRPr lang="zh-TW" altLang="en-US" sz="1400" b="1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可獲得點數</a:t>
                      </a:r>
                      <a:endParaRPr lang="zh-TW" altLang="en-US" sz="1400" b="1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獲得卡片張數</a:t>
                      </a:r>
                      <a:endParaRPr lang="zh-TW" altLang="en-US" sz="1400" b="1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獲得卡片範圍</a:t>
                      </a:r>
                      <a:endParaRPr lang="zh-TW" altLang="en-US" sz="1400" b="1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火雷尊享包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10,000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8,000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張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指定遊戲隨機任一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至尊廳</a:t>
                      </a: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</a:t>
                      </a: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~5</a:t>
                      </a: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星黃卡、紅卡、紫卡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火雷典藏包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3,000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2,400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張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指定遊戲隨機任一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高手廳</a:t>
                      </a: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</a:t>
                      </a: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~5</a:t>
                      </a: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星黃卡、紅卡、紫卡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火雷精選包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  <a:endParaRPr lang="zh-TW" altLang="en-US" sz="1400" b="1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400</a:t>
                      </a:r>
                      <a:endParaRPr lang="zh-TW" altLang="en-US" sz="1400" b="1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張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指定遊戲隨機任一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一般廳</a:t>
                      </a: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</a:t>
                      </a: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~5</a:t>
                      </a: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星黃卡、紅卡、紫卡</a:t>
                      </a:r>
                      <a:endParaRPr lang="zh-TW" altLang="en-US" sz="14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95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8108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"/>
          <p:cNvSpPr txBox="1"/>
          <p:nvPr/>
        </p:nvSpPr>
        <p:spPr>
          <a:xfrm>
            <a:off x="179512" y="116632"/>
            <a:ext cx="18723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魚機單日榜獎勵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330" name="Google Shape;330;p21"/>
          <p:cNvGraphicFramePr/>
          <p:nvPr>
            <p:extLst>
              <p:ext uri="{D42A27DB-BD31-4B8C-83A1-F6EECF244321}">
                <p14:modId xmlns:p14="http://schemas.microsoft.com/office/powerpoint/2010/main" val="1583152961"/>
              </p:ext>
            </p:extLst>
          </p:nvPr>
        </p:nvGraphicFramePr>
        <p:xfrm>
          <a:off x="255110" y="892583"/>
          <a:ext cx="6264675" cy="24670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8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3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活動排名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體驗廳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2,500,000金幣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1,500,000金幣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750,000金幣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6-10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11-20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21-30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50,000金幣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1,000金幣</a:t>
                      </a:r>
                      <a:endParaRPr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31" name="Google Shape;331;p21"/>
          <p:cNvSpPr txBox="1"/>
          <p:nvPr/>
        </p:nvSpPr>
        <p:spPr>
          <a:xfrm>
            <a:off x="179488" y="3545625"/>
            <a:ext cx="37707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魚王積分榜獎勵</a:t>
            </a: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活動海皇</a:t>
            </a: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332" name="Google Shape;332;p21"/>
          <p:cNvGraphicFramePr/>
          <p:nvPr>
            <p:extLst>
              <p:ext uri="{D42A27DB-BD31-4B8C-83A1-F6EECF244321}">
                <p14:modId xmlns:p14="http://schemas.microsoft.com/office/powerpoint/2010/main" val="533751260"/>
              </p:ext>
            </p:extLst>
          </p:nvPr>
        </p:nvGraphicFramePr>
        <p:xfrm>
          <a:off x="255110" y="4156033"/>
          <a:ext cx="6264675" cy="323064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8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3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活動排名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endParaRPr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endParaRPr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體驗廳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10,000,000金幣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5,000,000金幣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1,500,000金幣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4-10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1,500,000金幣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11-20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21-30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31-40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41-50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50,000金幣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2,000金幣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91425" marB="91425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D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5"/>
          <p:cNvSpPr txBox="1"/>
          <p:nvPr/>
        </p:nvSpPr>
        <p:spPr>
          <a:xfrm>
            <a:off x="107504" y="107340"/>
            <a:ext cx="2664296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互動道具登入送 獎勵</a:t>
            </a:r>
            <a:endParaRPr/>
          </a:p>
        </p:txBody>
      </p:sp>
      <p:graphicFrame>
        <p:nvGraphicFramePr>
          <p:cNvPr id="338" name="Google Shape;338;p95"/>
          <p:cNvGraphicFramePr/>
          <p:nvPr>
            <p:extLst>
              <p:ext uri="{D42A27DB-BD31-4B8C-83A1-F6EECF244321}">
                <p14:modId xmlns:p14="http://schemas.microsoft.com/office/powerpoint/2010/main" val="2276302568"/>
              </p:ext>
            </p:extLst>
          </p:nvPr>
        </p:nvGraphicFramePr>
        <p:xfrm>
          <a:off x="107504" y="692696"/>
          <a:ext cx="3378900" cy="15764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5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日期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獎勵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8/24 (四)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煙火慶祝卡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3 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8/25 (五)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拉炮喝采卡 3 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8/26 (六)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煙火慶祝卡 3 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8/27 (日)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拉炮喝采卡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3 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9" name="Google Shape;339;p95"/>
          <p:cNvSpPr txBox="1"/>
          <p:nvPr/>
        </p:nvSpPr>
        <p:spPr>
          <a:xfrm>
            <a:off x="107504" y="2485165"/>
            <a:ext cx="26643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USDT抽獎</a:t>
            </a:r>
            <a:endParaRPr/>
          </a:p>
        </p:txBody>
      </p:sp>
      <p:graphicFrame>
        <p:nvGraphicFramePr>
          <p:cNvPr id="340" name="Google Shape;340;p95"/>
          <p:cNvGraphicFramePr/>
          <p:nvPr>
            <p:extLst>
              <p:ext uri="{D42A27DB-BD31-4B8C-83A1-F6EECF244321}">
                <p14:modId xmlns:p14="http://schemas.microsoft.com/office/powerpoint/2010/main" val="1486273596"/>
              </p:ext>
            </p:extLst>
          </p:nvPr>
        </p:nvGraphicFramePr>
        <p:xfrm>
          <a:off x="107504" y="2951071"/>
          <a:ext cx="3378900" cy="27928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5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USDT金額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中獎機會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50次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300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30次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200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20次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10次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en-US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41" name="Google Shape;341;p95"/>
          <p:cNvGraphicFramePr/>
          <p:nvPr>
            <p:extLst>
              <p:ext uri="{D42A27DB-BD31-4B8C-83A1-F6EECF244321}">
                <p14:modId xmlns:p14="http://schemas.microsoft.com/office/powerpoint/2010/main" val="2450772410"/>
              </p:ext>
            </p:extLst>
          </p:nvPr>
        </p:nvGraphicFramePr>
        <p:xfrm>
          <a:off x="3832329" y="2951071"/>
          <a:ext cx="3378900" cy="18805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5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獎項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抽獎人數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1,000,000 金幣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1人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500,000金幣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3人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100,000金幣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5人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50,000金幣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10人</a:t>
                      </a:r>
                      <a:endParaRPr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20,000金幣</a:t>
                      </a:r>
                      <a:endParaRPr sz="12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30</a:t>
                      </a:r>
                      <a:r>
                        <a:rPr lang="en-US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人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7098471c7d_6_25"/>
          <p:cNvSpPr txBox="1"/>
          <p:nvPr/>
        </p:nvSpPr>
        <p:spPr>
          <a:xfrm>
            <a:off x="107504" y="107340"/>
            <a:ext cx="26643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集物保底</a:t>
            </a:r>
            <a:endParaRPr/>
          </a:p>
        </p:txBody>
      </p:sp>
      <p:graphicFrame>
        <p:nvGraphicFramePr>
          <p:cNvPr id="347" name="Google Shape;347;g27098471c7d_6_25"/>
          <p:cNvGraphicFramePr/>
          <p:nvPr/>
        </p:nvGraphicFramePr>
        <p:xfrm>
          <a:off x="107504" y="692696"/>
          <a:ext cx="6628550" cy="1759318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5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商人</a:t>
                      </a:r>
                      <a:endParaRPr sz="14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商品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雜貨、賀卡商人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(1)</a:t>
                      </a: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每日限購：每日限購一次</a:t>
                      </a: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。(每日00:00重置)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(2)</a:t>
                      </a: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常駐商品：常駐顯示，無購買次數上限</a:t>
                      </a: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。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(3)心動商品：每日可從5個商品中選擇一個購買。(每日00:00重置)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   - </a:t>
                      </a:r>
                      <a:r>
                        <a:rPr lang="en-US" sz="1200" b="1" dirty="0" err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須購買『儲值商品-心動購買</a:t>
                      </a: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』</a:t>
                      </a:r>
                      <a:endParaRPr sz="1200" b="1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神秘商人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(1)期間限購：活動期間僅可購買一次。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2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(2)時段限購：神秘商人每次營業時間，各商品皆可購買一次。</a:t>
                      </a:r>
                      <a:endParaRPr sz="12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Google Shape;155;p24">
            <a:extLst>
              <a:ext uri="{FF2B5EF4-FFF2-40B4-BE49-F238E27FC236}">
                <a16:creationId xmlns:a16="http://schemas.microsoft.com/office/drawing/2014/main" id="{E322A9DA-D38F-4C7E-BD14-8CC4D9843C1F}"/>
              </a:ext>
            </a:extLst>
          </p:cNvPr>
          <p:cNvSpPr txBox="1"/>
          <p:nvPr/>
        </p:nvSpPr>
        <p:spPr>
          <a:xfrm>
            <a:off x="179512" y="2938490"/>
            <a:ext cx="187220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扭蛋</a:t>
            </a:r>
            <a:endParaRPr dirty="0"/>
          </a:p>
        </p:txBody>
      </p:sp>
      <p:graphicFrame>
        <p:nvGraphicFramePr>
          <p:cNvPr id="5" name="Google Shape;156;p24">
            <a:extLst>
              <a:ext uri="{FF2B5EF4-FFF2-40B4-BE49-F238E27FC236}">
                <a16:creationId xmlns:a16="http://schemas.microsoft.com/office/drawing/2014/main" id="{93A49F5D-5EEA-43E6-ACF1-947CFC1539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6358915"/>
              </p:ext>
            </p:extLst>
          </p:nvPr>
        </p:nvGraphicFramePr>
        <p:xfrm>
          <a:off x="179513" y="3550178"/>
          <a:ext cx="5127984" cy="3083089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2573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4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10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指定日期</a:t>
                      </a:r>
                      <a:endParaRPr sz="1400" b="1" dirty="0">
                        <a:solidFill>
                          <a:schemeClr val="bg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扭蛋機本日遊戲</a:t>
                      </a:r>
                      <a:endParaRPr sz="1400" b="1" dirty="0">
                        <a:solidFill>
                          <a:schemeClr val="bg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6/29 12:00~6/30 11:59</a:t>
                      </a:r>
                      <a:endParaRPr sz="14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雷神索爾 </a:t>
                      </a:r>
                      <a:r>
                        <a:rPr lang="en-US" altLang="zh-TW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4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： 雷霆萬鈞</a:t>
                      </a:r>
                      <a:endParaRPr sz="14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7/1 12:00~7/2 11:59</a:t>
                      </a:r>
                      <a:endParaRPr sz="14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7/3 12:00~7/4 11:59</a:t>
                      </a:r>
                      <a:endParaRPr sz="14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7/5 12:00~7/6 11:59</a:t>
                      </a:r>
                      <a:endParaRPr sz="14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907234"/>
                  </a:ext>
                </a:extLst>
              </a:tr>
              <a:tr h="377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7/7 12:00~7/8 11:59</a:t>
                      </a:r>
                      <a:endParaRPr sz="14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6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693423"/>
                  </a:ext>
                </a:extLst>
              </a:tr>
              <a:tr h="377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7/9 12:00~7/10 11:59</a:t>
                      </a:r>
                      <a:endParaRPr sz="14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endParaRPr sz="14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630447"/>
                  </a:ext>
                </a:extLst>
              </a:tr>
              <a:tr h="3779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7/11 12:00~7/12 11:59</a:t>
                      </a:r>
                      <a:endParaRPr lang="en-US" altLang="zh-TW" sz="14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endParaRPr sz="14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7694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7098471c7d_6_8"/>
          <p:cNvSpPr txBox="1"/>
          <p:nvPr/>
        </p:nvSpPr>
        <p:spPr>
          <a:xfrm>
            <a:off x="179512" y="116632"/>
            <a:ext cx="18723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儲值-小瑪莉</a:t>
            </a:r>
            <a:endParaRPr dirty="0"/>
          </a:p>
        </p:txBody>
      </p:sp>
      <p:graphicFrame>
        <p:nvGraphicFramePr>
          <p:cNvPr id="430" name="Google Shape;430;g27098471c7d_6_8"/>
          <p:cNvGraphicFramePr/>
          <p:nvPr>
            <p:extLst>
              <p:ext uri="{D42A27DB-BD31-4B8C-83A1-F6EECF244321}">
                <p14:modId xmlns:p14="http://schemas.microsoft.com/office/powerpoint/2010/main" val="3361622455"/>
              </p:ext>
            </p:extLst>
          </p:nvPr>
        </p:nvGraphicFramePr>
        <p:xfrm>
          <a:off x="231199" y="785103"/>
          <a:ext cx="2520275" cy="12639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5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指定面額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/>
                        <a:t>許願幣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3,000元</a:t>
                      </a:r>
                      <a:endParaRPr sz="1200" b="1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312,000</a:t>
                      </a: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枚</a:t>
                      </a:r>
                      <a:endParaRPr sz="1200" b="1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500元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50,000</a:t>
                      </a: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枚</a:t>
                      </a:r>
                      <a:endParaRPr sz="1200" b="1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150元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15,000</a:t>
                      </a:r>
                      <a:r>
                        <a:rPr lang="en-US" sz="1200" b="1" dirty="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枚</a:t>
                      </a:r>
                      <a:endParaRPr sz="1200" b="1" u="none" strike="noStrike" cap="none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1" name="Google Shape;431;g27098471c7d_6_8"/>
          <p:cNvSpPr/>
          <p:nvPr/>
        </p:nvSpPr>
        <p:spPr>
          <a:xfrm>
            <a:off x="-2700808" y="-902264"/>
            <a:ext cx="576000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27098471c7d_6_8"/>
          <p:cNvSpPr/>
          <p:nvPr/>
        </p:nvSpPr>
        <p:spPr>
          <a:xfrm>
            <a:off x="-2700808" y="3351600"/>
            <a:ext cx="576000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429;g27098471c7d_6_8">
            <a:extLst>
              <a:ext uri="{FF2B5EF4-FFF2-40B4-BE49-F238E27FC236}">
                <a16:creationId xmlns:a16="http://schemas.microsoft.com/office/drawing/2014/main" id="{C2D06416-CC5B-951C-A84B-FED19EF5868A}"/>
              </a:ext>
            </a:extLst>
          </p:cNvPr>
          <p:cNvSpPr txBox="1"/>
          <p:nvPr/>
        </p:nvSpPr>
        <p:spPr>
          <a:xfrm>
            <a:off x="4676867" y="116632"/>
            <a:ext cx="18723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隔日券</a:t>
            </a:r>
            <a:endParaRPr dirty="0"/>
          </a:p>
        </p:txBody>
      </p:sp>
      <p:graphicFrame>
        <p:nvGraphicFramePr>
          <p:cNvPr id="5" name="Google Shape;341;p95">
            <a:extLst>
              <a:ext uri="{FF2B5EF4-FFF2-40B4-BE49-F238E27FC236}">
                <a16:creationId xmlns:a16="http://schemas.microsoft.com/office/drawing/2014/main" id="{FC9AD2A6-4A14-C934-0C28-124CBFFCD0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6855231"/>
              </p:ext>
            </p:extLst>
          </p:nvPr>
        </p:nvGraphicFramePr>
        <p:xfrm>
          <a:off x="2777684" y="-2254034"/>
          <a:ext cx="3378900" cy="1150733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5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門檻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獎勵</a:t>
                      </a:r>
                      <a:endParaRPr sz="1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∞</a:t>
                      </a:r>
                      <a:b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無限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十萬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100,000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18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一百萬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1,000,000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17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五十萬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500,000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16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十萬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3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300,000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五萬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十萬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150,000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14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十萬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100,000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97231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13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一萬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3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30,000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13669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12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一萬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2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20,000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9216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11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一萬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10,000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5008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一萬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10,000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71330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9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五千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5,000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59287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8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五百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500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71555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7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五百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500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37823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一千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3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3,000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06070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三百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300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60354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三百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300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22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五百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一千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1,500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1914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五十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一百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150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7521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隔日券禮包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五十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一百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張</a:t>
                      </a:r>
                      <a:br>
                        <a:rPr lang="zh-TW" alt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共價值</a:t>
                      </a:r>
                      <a:r>
                        <a:rPr lang="en-US" altLang="zh-TW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150</a:t>
                      </a:r>
                      <a:r>
                        <a:rPr lang="zh-TW" altLang="en-US" sz="12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Arial"/>
                        </a:rPr>
                        <a:t>金幣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3066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7098471c7d_6_0"/>
          <p:cNvSpPr txBox="1"/>
          <p:nvPr/>
        </p:nvSpPr>
        <p:spPr>
          <a:xfrm>
            <a:off x="179512" y="116632"/>
            <a:ext cx="2457156" cy="3692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儲值贈卡</a:t>
            </a:r>
            <a:r>
              <a:rPr lang="en-US" altLang="zh-TW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老虎機</a:t>
            </a:r>
            <a:endParaRPr dirty="0"/>
          </a:p>
        </p:txBody>
      </p:sp>
      <p:sp>
        <p:nvSpPr>
          <p:cNvPr id="438" name="Google Shape;438;g27098471c7d_6_0"/>
          <p:cNvSpPr/>
          <p:nvPr/>
        </p:nvSpPr>
        <p:spPr>
          <a:xfrm>
            <a:off x="-2700808" y="-902264"/>
            <a:ext cx="576000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Google Shape;439;g27098471c7d_6_0">
            <a:extLst>
              <a:ext uri="{FF2B5EF4-FFF2-40B4-BE49-F238E27FC236}">
                <a16:creationId xmlns:a16="http://schemas.microsoft.com/office/drawing/2014/main" id="{95030A24-B1BB-4295-9C05-5C58D7A37F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7280244"/>
              </p:ext>
            </p:extLst>
          </p:nvPr>
        </p:nvGraphicFramePr>
        <p:xfrm>
          <a:off x="-2700808" y="692696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官網10,000面額商品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至尊廳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1~2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星或高手廳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星黃或紅或紫卡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序號儲值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線上轉點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56072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</a:tbl>
          </a:graphicData>
        </a:graphic>
      </p:graphicFrame>
      <p:graphicFrame>
        <p:nvGraphicFramePr>
          <p:cNvPr id="10" name="Google Shape;439;g27098471c7d_6_0">
            <a:extLst>
              <a:ext uri="{FF2B5EF4-FFF2-40B4-BE49-F238E27FC236}">
                <a16:creationId xmlns:a16="http://schemas.microsoft.com/office/drawing/2014/main" id="{FD878359-BE51-4147-880E-09474E1BD4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964657"/>
              </p:ext>
            </p:extLst>
          </p:nvPr>
        </p:nvGraphicFramePr>
        <p:xfrm>
          <a:off x="-2700808" y="4250633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官網3</a:t>
                      </a:r>
                      <a:r>
                        <a:rPr lang="en-US" altLang="zh-TW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00</a:t>
                      </a: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3,300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高手廳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星黃或紅或紫卡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3,300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3,240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02182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3,240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3,240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22499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3,240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3,240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3,240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</a:tbl>
          </a:graphicData>
        </a:graphic>
      </p:graphicFrame>
      <p:graphicFrame>
        <p:nvGraphicFramePr>
          <p:cNvPr id="12" name="Google Shape;439;g27098471c7d_6_0">
            <a:extLst>
              <a:ext uri="{FF2B5EF4-FFF2-40B4-BE49-F238E27FC236}">
                <a16:creationId xmlns:a16="http://schemas.microsoft.com/office/drawing/2014/main" id="{14E65934-3E93-4382-8495-2D85BD3702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17250"/>
              </p:ext>
            </p:extLst>
          </p:nvPr>
        </p:nvGraphicFramePr>
        <p:xfrm>
          <a:off x="3472240" y="692696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官網500面額商品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520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星黃或紅或紫卡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520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515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12899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515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515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7436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515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515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515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</a:tbl>
          </a:graphicData>
        </a:graphic>
      </p:graphicFrame>
      <p:graphicFrame>
        <p:nvGraphicFramePr>
          <p:cNvPr id="13" name="Google Shape;439;g27098471c7d_6_0">
            <a:extLst>
              <a:ext uri="{FF2B5EF4-FFF2-40B4-BE49-F238E27FC236}">
                <a16:creationId xmlns:a16="http://schemas.microsoft.com/office/drawing/2014/main" id="{446195AA-3214-429E-842D-BD8D0DBC54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6826249"/>
              </p:ext>
            </p:extLst>
          </p:nvPr>
        </p:nvGraphicFramePr>
        <p:xfrm>
          <a:off x="3472240" y="3956540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</a:t>
                      </a:r>
                      <a:r>
                        <a:rPr lang="en-US" altLang="zh-TW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153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星黃或紅或紫卡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153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152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54276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152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61528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152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152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152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152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>
          <a:extLst>
            <a:ext uri="{FF2B5EF4-FFF2-40B4-BE49-F238E27FC236}">
              <a16:creationId xmlns:a16="http://schemas.microsoft.com/office/drawing/2014/main" id="{44A9108F-635B-1D98-F379-9EE842395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7098471c7d_6_0">
            <a:extLst>
              <a:ext uri="{FF2B5EF4-FFF2-40B4-BE49-F238E27FC236}">
                <a16:creationId xmlns:a16="http://schemas.microsoft.com/office/drawing/2014/main" id="{A762CBD4-DA17-717A-DE7E-093A148B010A}"/>
              </a:ext>
            </a:extLst>
          </p:cNvPr>
          <p:cNvSpPr txBox="1"/>
          <p:nvPr/>
        </p:nvSpPr>
        <p:spPr>
          <a:xfrm>
            <a:off x="179512" y="116632"/>
            <a:ext cx="3935288" cy="3692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儲值贈卡</a:t>
            </a:r>
            <a:r>
              <a:rPr lang="en-US" altLang="zh-TW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老虎機</a:t>
            </a:r>
            <a:r>
              <a:rPr lang="en-US" altLang="zh-TW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押碼增次</a:t>
            </a:r>
            <a:endParaRPr dirty="0"/>
          </a:p>
        </p:txBody>
      </p:sp>
      <p:graphicFrame>
        <p:nvGraphicFramePr>
          <p:cNvPr id="9" name="Google Shape;439;g27098471c7d_6_0">
            <a:extLst>
              <a:ext uri="{FF2B5EF4-FFF2-40B4-BE49-F238E27FC236}">
                <a16:creationId xmlns:a16="http://schemas.microsoft.com/office/drawing/2014/main" id="{E6642615-E3DE-B35B-5C13-30D87E022A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4513248"/>
              </p:ext>
            </p:extLst>
          </p:nvPr>
        </p:nvGraphicFramePr>
        <p:xfrm>
          <a:off x="-2700806" y="692696"/>
          <a:ext cx="7093513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76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838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  <a:gridCol w="1130838">
                  <a:extLst>
                    <a:ext uri="{9D8B030D-6E8A-4147-A177-3AD203B41FA5}">
                      <a16:colId xmlns:a16="http://schemas.microsoft.com/office/drawing/2014/main" val="4294744561"/>
                    </a:ext>
                  </a:extLst>
                </a:gridCol>
              </a:tblGrid>
              <a:tr h="3516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官網10,000面額商品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額外購買次數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11,300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至尊廳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1~2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星或高手廳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星黃或紅或紫卡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11,300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11,200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序號儲值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11,200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線上轉點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11,200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6072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11,200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11,200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11,200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</a:tbl>
          </a:graphicData>
        </a:graphic>
      </p:graphicFrame>
      <p:graphicFrame>
        <p:nvGraphicFramePr>
          <p:cNvPr id="2" name="Google Shape;439;g27098471c7d_6_0">
            <a:extLst>
              <a:ext uri="{FF2B5EF4-FFF2-40B4-BE49-F238E27FC236}">
                <a16:creationId xmlns:a16="http://schemas.microsoft.com/office/drawing/2014/main" id="{0691E107-B4A0-5047-7C55-F5DC12A39E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4726857"/>
              </p:ext>
            </p:extLst>
          </p:nvPr>
        </p:nvGraphicFramePr>
        <p:xfrm>
          <a:off x="4572000" y="692696"/>
          <a:ext cx="7093513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76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838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  <a:gridCol w="1130838">
                  <a:extLst>
                    <a:ext uri="{9D8B030D-6E8A-4147-A177-3AD203B41FA5}">
                      <a16:colId xmlns:a16="http://schemas.microsoft.com/office/drawing/2014/main" val="4294744561"/>
                    </a:ext>
                  </a:extLst>
                </a:gridCol>
              </a:tblGrid>
              <a:tr h="3516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官網3,000面額商品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額外購買次數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3,300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高手廳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星黃或紅或紫卡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3,300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3,240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3,240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3,240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6072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3,240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3,240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3,240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</a:tbl>
          </a:graphicData>
        </a:graphic>
      </p:graphicFrame>
      <p:graphicFrame>
        <p:nvGraphicFramePr>
          <p:cNvPr id="3" name="Google Shape;439;g27098471c7d_6_0">
            <a:extLst>
              <a:ext uri="{FF2B5EF4-FFF2-40B4-BE49-F238E27FC236}">
                <a16:creationId xmlns:a16="http://schemas.microsoft.com/office/drawing/2014/main" id="{D784A673-15D1-E889-06E2-7C3659F1C3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2285887"/>
              </p:ext>
            </p:extLst>
          </p:nvPr>
        </p:nvGraphicFramePr>
        <p:xfrm>
          <a:off x="-2700806" y="4004365"/>
          <a:ext cx="7093513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76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838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  <a:gridCol w="1130838">
                  <a:extLst>
                    <a:ext uri="{9D8B030D-6E8A-4147-A177-3AD203B41FA5}">
                      <a16:colId xmlns:a16="http://schemas.microsoft.com/office/drawing/2014/main" val="4294744561"/>
                    </a:ext>
                  </a:extLst>
                </a:gridCol>
              </a:tblGrid>
              <a:tr h="3516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官網500面額商品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額外購買次數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520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星黃或紅或紫卡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520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515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515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515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6072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515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515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515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</a:tbl>
          </a:graphicData>
        </a:graphic>
      </p:graphicFrame>
      <p:graphicFrame>
        <p:nvGraphicFramePr>
          <p:cNvPr id="4" name="Google Shape;439;g27098471c7d_6_0">
            <a:extLst>
              <a:ext uri="{FF2B5EF4-FFF2-40B4-BE49-F238E27FC236}">
                <a16:creationId xmlns:a16="http://schemas.microsoft.com/office/drawing/2014/main" id="{AE8F27B0-F31C-460C-9C62-5CE887CC93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4043706"/>
              </p:ext>
            </p:extLst>
          </p:nvPr>
        </p:nvGraphicFramePr>
        <p:xfrm>
          <a:off x="4571999" y="4004365"/>
          <a:ext cx="7093513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76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838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  <a:gridCol w="1130838">
                  <a:extLst>
                    <a:ext uri="{9D8B030D-6E8A-4147-A177-3AD203B41FA5}">
                      <a16:colId xmlns:a16="http://schemas.microsoft.com/office/drawing/2014/main" val="4294744561"/>
                    </a:ext>
                  </a:extLst>
                </a:gridCol>
              </a:tblGrid>
              <a:tr h="3516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官網150面額商品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額外購買次數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153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星黃或紅或紫卡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153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152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152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152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6072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152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152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152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84679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>
          <a:extLst>
            <a:ext uri="{FF2B5EF4-FFF2-40B4-BE49-F238E27FC236}">
              <a16:creationId xmlns:a16="http://schemas.microsoft.com/office/drawing/2014/main" id="{AE09FD80-BDAE-4F80-8AB8-D7CFFAE15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7098471c7d_6_0">
            <a:extLst>
              <a:ext uri="{FF2B5EF4-FFF2-40B4-BE49-F238E27FC236}">
                <a16:creationId xmlns:a16="http://schemas.microsoft.com/office/drawing/2014/main" id="{9A6F8891-24F1-011D-8D84-C965FCEF79C1}"/>
              </a:ext>
            </a:extLst>
          </p:cNvPr>
          <p:cNvSpPr txBox="1"/>
          <p:nvPr/>
        </p:nvSpPr>
        <p:spPr>
          <a:xfrm>
            <a:off x="179512" y="116632"/>
            <a:ext cx="2457156" cy="3692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儲值贈卡</a:t>
            </a:r>
            <a:r>
              <a:rPr lang="en-US" altLang="zh-TW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紅紫老虎機</a:t>
            </a:r>
            <a:endParaRPr dirty="0"/>
          </a:p>
        </p:txBody>
      </p:sp>
      <p:sp>
        <p:nvSpPr>
          <p:cNvPr id="438" name="Google Shape;438;g27098471c7d_6_0">
            <a:extLst>
              <a:ext uri="{FF2B5EF4-FFF2-40B4-BE49-F238E27FC236}">
                <a16:creationId xmlns:a16="http://schemas.microsoft.com/office/drawing/2014/main" id="{97490EC9-1CB1-A06D-5B9C-125FC70E2C9B}"/>
              </a:ext>
            </a:extLst>
          </p:cNvPr>
          <p:cNvSpPr/>
          <p:nvPr/>
        </p:nvSpPr>
        <p:spPr>
          <a:xfrm>
            <a:off x="-2700808" y="-902264"/>
            <a:ext cx="576000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Google Shape;439;g27098471c7d_6_0">
            <a:extLst>
              <a:ext uri="{FF2B5EF4-FFF2-40B4-BE49-F238E27FC236}">
                <a16:creationId xmlns:a16="http://schemas.microsoft.com/office/drawing/2014/main" id="{AFE6CC82-C5D9-0DFA-A276-3646B13B3E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3476941"/>
              </p:ext>
            </p:extLst>
          </p:nvPr>
        </p:nvGraphicFramePr>
        <p:xfrm>
          <a:off x="-6286923" y="-1847441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官網10,000面額商品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至尊廳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1~2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星或高手廳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星黃或紅或紫卡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56072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</a:tbl>
          </a:graphicData>
        </a:graphic>
      </p:graphicFrame>
      <p:graphicFrame>
        <p:nvGraphicFramePr>
          <p:cNvPr id="10" name="Google Shape;439;g27098471c7d_6_0">
            <a:extLst>
              <a:ext uri="{FF2B5EF4-FFF2-40B4-BE49-F238E27FC236}">
                <a16:creationId xmlns:a16="http://schemas.microsoft.com/office/drawing/2014/main" id="{DD77CC3B-2693-213E-4A6D-F71AE4CB8F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4807819"/>
              </p:ext>
            </p:extLst>
          </p:nvPr>
        </p:nvGraphicFramePr>
        <p:xfrm>
          <a:off x="-5869137" y="4479133"/>
          <a:ext cx="6048649" cy="34402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官網3</a:t>
                      </a:r>
                      <a:r>
                        <a:rPr lang="en-US" altLang="zh-TW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290</a:t>
                      </a: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高手廳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02182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22499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35447"/>
                  </a:ext>
                </a:extLst>
              </a:tr>
            </a:tbl>
          </a:graphicData>
        </a:graphic>
      </p:graphicFrame>
      <p:graphicFrame>
        <p:nvGraphicFramePr>
          <p:cNvPr id="12" name="Google Shape;439;g27098471c7d_6_0">
            <a:extLst>
              <a:ext uri="{FF2B5EF4-FFF2-40B4-BE49-F238E27FC236}">
                <a16:creationId xmlns:a16="http://schemas.microsoft.com/office/drawing/2014/main" id="{150B4C4A-A3D5-1FC7-E03F-33F507BC8D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0774091"/>
              </p:ext>
            </p:extLst>
          </p:nvPr>
        </p:nvGraphicFramePr>
        <p:xfrm>
          <a:off x="447915" y="553376"/>
          <a:ext cx="6048649" cy="34402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官網500面額商品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12899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7436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790220"/>
                  </a:ext>
                </a:extLst>
              </a:tr>
            </a:tbl>
          </a:graphicData>
        </a:graphic>
      </p:graphicFrame>
      <p:graphicFrame>
        <p:nvGraphicFramePr>
          <p:cNvPr id="13" name="Google Shape;439;g27098471c7d_6_0">
            <a:extLst>
              <a:ext uri="{FF2B5EF4-FFF2-40B4-BE49-F238E27FC236}">
                <a16:creationId xmlns:a16="http://schemas.microsoft.com/office/drawing/2014/main" id="{69B3CD9D-5174-C30C-D89B-87797B5E4D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1180188"/>
              </p:ext>
            </p:extLst>
          </p:nvPr>
        </p:nvGraphicFramePr>
        <p:xfrm>
          <a:off x="6764967" y="3063133"/>
          <a:ext cx="6048649" cy="34402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</a:t>
                      </a:r>
                      <a:r>
                        <a:rPr lang="en-US" altLang="zh-TW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</a:t>
                      </a: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星或體驗廳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54276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61528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350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12283"/>
                  </a:ext>
                </a:extLst>
              </a:tr>
            </a:tbl>
          </a:graphicData>
        </a:graphic>
      </p:graphicFrame>
      <p:graphicFrame>
        <p:nvGraphicFramePr>
          <p:cNvPr id="2" name="Google Shape;439;g27098471c7d_6_0">
            <a:extLst>
              <a:ext uri="{FF2B5EF4-FFF2-40B4-BE49-F238E27FC236}">
                <a16:creationId xmlns:a16="http://schemas.microsoft.com/office/drawing/2014/main" id="{B531BDC9-08FC-A302-79B4-5933E66882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9634085"/>
              </p:ext>
            </p:extLst>
          </p:nvPr>
        </p:nvGraphicFramePr>
        <p:xfrm>
          <a:off x="-6286923" y="1449196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</a:t>
                      </a:r>
                      <a:r>
                        <a:rPr lang="en-US" altLang="zh-TW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,000面額商品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至尊廳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星或高手廳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560729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5,000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</a:tbl>
          </a:graphicData>
        </a:graphic>
      </p:graphicFrame>
      <p:graphicFrame>
        <p:nvGraphicFramePr>
          <p:cNvPr id="4" name="Google Shape;439;g27098471c7d_6_0">
            <a:extLst>
              <a:ext uri="{FF2B5EF4-FFF2-40B4-BE49-F238E27FC236}">
                <a16:creationId xmlns:a16="http://schemas.microsoft.com/office/drawing/2014/main" id="{FFE0D128-27EC-FF21-2DAB-4B2CAACF95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7360443"/>
              </p:ext>
            </p:extLst>
          </p:nvPr>
        </p:nvGraphicFramePr>
        <p:xfrm>
          <a:off x="6764967" y="-555407"/>
          <a:ext cx="6048649" cy="34402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官網16</a:t>
                      </a:r>
                      <a:r>
                        <a:rPr lang="en-US" altLang="zh-TW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90</a:t>
                      </a: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1,690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高手廳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1~2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星或一般廳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1,690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1,690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02182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1,690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1,690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22499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1,690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1,690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1,690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1,690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35447"/>
                  </a:ext>
                </a:extLst>
              </a:tr>
            </a:tbl>
          </a:graphicData>
        </a:graphic>
      </p:graphicFrame>
      <p:graphicFrame>
        <p:nvGraphicFramePr>
          <p:cNvPr id="5" name="Google Shape;439;g27098471c7d_6_0">
            <a:extLst>
              <a:ext uri="{FF2B5EF4-FFF2-40B4-BE49-F238E27FC236}">
                <a16:creationId xmlns:a16="http://schemas.microsoft.com/office/drawing/2014/main" id="{36EC3F34-F8B5-D392-59AD-2CA1569599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1447667"/>
              </p:ext>
            </p:extLst>
          </p:nvPr>
        </p:nvGraphicFramePr>
        <p:xfrm>
          <a:off x="447915" y="4270081"/>
          <a:ext cx="6048649" cy="34402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官網350面額商品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1~2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星紅或紫卡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12899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7436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350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790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593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7098471c7d_6_0"/>
          <p:cNvSpPr txBox="1"/>
          <p:nvPr/>
        </p:nvSpPr>
        <p:spPr>
          <a:xfrm>
            <a:off x="179512" y="116632"/>
            <a:ext cx="21603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儲值贈卡</a:t>
            </a:r>
            <a:r>
              <a:rPr lang="en-US" altLang="zh-TW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魚機</a:t>
            </a:r>
            <a:endParaRPr dirty="0"/>
          </a:p>
        </p:txBody>
      </p:sp>
      <p:sp>
        <p:nvSpPr>
          <p:cNvPr id="438" name="Google Shape;438;g27098471c7d_6_0"/>
          <p:cNvSpPr/>
          <p:nvPr/>
        </p:nvSpPr>
        <p:spPr>
          <a:xfrm>
            <a:off x="-2700808" y="-902264"/>
            <a:ext cx="576000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Google Shape;439;g27098471c7d_6_0">
            <a:extLst>
              <a:ext uri="{FF2B5EF4-FFF2-40B4-BE49-F238E27FC236}">
                <a16:creationId xmlns:a16="http://schemas.microsoft.com/office/drawing/2014/main" id="{95030A24-B1BB-4295-9C05-5C58D7A37F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0186448"/>
              </p:ext>
            </p:extLst>
          </p:nvPr>
        </p:nvGraphicFramePr>
        <p:xfrm>
          <a:off x="-2700808" y="692696"/>
          <a:ext cx="6048649" cy="28320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官網10,000面額商品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高手廳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1~4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或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星隨機道具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</a:tbl>
          </a:graphicData>
        </a:graphic>
      </p:graphicFrame>
      <p:graphicFrame>
        <p:nvGraphicFramePr>
          <p:cNvPr id="10" name="Google Shape;439;g27098471c7d_6_0">
            <a:extLst>
              <a:ext uri="{FF2B5EF4-FFF2-40B4-BE49-F238E27FC236}">
                <a16:creationId xmlns:a16="http://schemas.microsoft.com/office/drawing/2014/main" id="{FD878359-BE51-4147-880E-09474E1BD4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6155978"/>
              </p:ext>
            </p:extLst>
          </p:nvPr>
        </p:nvGraphicFramePr>
        <p:xfrm>
          <a:off x="-5149133" y="3521075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官網3,290面額商品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5~10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星隨機道具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22499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110491"/>
                  </a:ext>
                </a:extLst>
              </a:tr>
            </a:tbl>
          </a:graphicData>
        </a:graphic>
      </p:graphicFrame>
      <p:graphicFrame>
        <p:nvGraphicFramePr>
          <p:cNvPr id="11" name="Google Shape;439;g27098471c7d_6_0">
            <a:extLst>
              <a:ext uri="{FF2B5EF4-FFF2-40B4-BE49-F238E27FC236}">
                <a16:creationId xmlns:a16="http://schemas.microsoft.com/office/drawing/2014/main" id="{AD4088FE-6C9A-42B2-9035-41C11969BD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499185"/>
              </p:ext>
            </p:extLst>
          </p:nvPr>
        </p:nvGraphicFramePr>
        <p:xfrm>
          <a:off x="3472240" y="-594568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官網1,490面額商品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星隨機道具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35971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908725"/>
                  </a:ext>
                </a:extLst>
              </a:tr>
            </a:tbl>
          </a:graphicData>
        </a:graphic>
      </p:graphicFrame>
      <p:graphicFrame>
        <p:nvGraphicFramePr>
          <p:cNvPr id="12" name="Google Shape;439;g27098471c7d_6_0">
            <a:extLst>
              <a:ext uri="{FF2B5EF4-FFF2-40B4-BE49-F238E27FC236}">
                <a16:creationId xmlns:a16="http://schemas.microsoft.com/office/drawing/2014/main" id="{14E65934-3E93-4382-8495-2D85BD3702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4608688"/>
              </p:ext>
            </p:extLst>
          </p:nvPr>
        </p:nvGraphicFramePr>
        <p:xfrm>
          <a:off x="3472239" y="2638057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官網500面額商品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星隨機道具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7436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886816"/>
                  </a:ext>
                </a:extLst>
              </a:tr>
            </a:tbl>
          </a:graphicData>
        </a:graphic>
      </p:graphicFrame>
      <p:graphicFrame>
        <p:nvGraphicFramePr>
          <p:cNvPr id="13" name="Google Shape;439;g27098471c7d_6_0">
            <a:extLst>
              <a:ext uri="{FF2B5EF4-FFF2-40B4-BE49-F238E27FC236}">
                <a16:creationId xmlns:a16="http://schemas.microsoft.com/office/drawing/2014/main" id="{446195AA-3214-429E-842D-BD8D0DBC54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9838327"/>
              </p:ext>
            </p:extLst>
          </p:nvPr>
        </p:nvGraphicFramePr>
        <p:xfrm>
          <a:off x="3062852" y="5983775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</a:t>
                      </a:r>
                      <a:r>
                        <a:rPr lang="en-US" altLang="zh-TW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體驗廳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星隨機道具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14053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165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9685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>
          <a:extLst>
            <a:ext uri="{FF2B5EF4-FFF2-40B4-BE49-F238E27FC236}">
              <a16:creationId xmlns:a16="http://schemas.microsoft.com/office/drawing/2014/main" id="{3269EE43-2965-C8DE-75FE-478CB04E1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7098471c7d_6_0">
            <a:extLst>
              <a:ext uri="{FF2B5EF4-FFF2-40B4-BE49-F238E27FC236}">
                <a16:creationId xmlns:a16="http://schemas.microsoft.com/office/drawing/2014/main" id="{710F05B5-E324-5C51-B03F-1D60788E9022}"/>
              </a:ext>
            </a:extLst>
          </p:cNvPr>
          <p:cNvSpPr txBox="1"/>
          <p:nvPr/>
        </p:nvSpPr>
        <p:spPr>
          <a:xfrm>
            <a:off x="-484632" y="116632"/>
            <a:ext cx="2824444" cy="3692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儲值贈卡</a:t>
            </a:r>
            <a:r>
              <a:rPr lang="en-US" altLang="zh-TW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魚機</a:t>
            </a:r>
            <a:r>
              <a:rPr lang="en-US" altLang="zh-TW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門檻增次</a:t>
            </a:r>
            <a:r>
              <a:rPr lang="en-US" altLang="zh-TW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dirty="0"/>
          </a:p>
        </p:txBody>
      </p:sp>
      <p:sp>
        <p:nvSpPr>
          <p:cNvPr id="438" name="Google Shape;438;g27098471c7d_6_0">
            <a:extLst>
              <a:ext uri="{FF2B5EF4-FFF2-40B4-BE49-F238E27FC236}">
                <a16:creationId xmlns:a16="http://schemas.microsoft.com/office/drawing/2014/main" id="{F9D55275-B8F8-64A7-FE1B-A00FFCC49F69}"/>
              </a:ext>
            </a:extLst>
          </p:cNvPr>
          <p:cNvSpPr/>
          <p:nvPr/>
        </p:nvSpPr>
        <p:spPr>
          <a:xfrm>
            <a:off x="-2700808" y="-902264"/>
            <a:ext cx="576000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Google Shape;439;g27098471c7d_6_0">
            <a:extLst>
              <a:ext uri="{FF2B5EF4-FFF2-40B4-BE49-F238E27FC236}">
                <a16:creationId xmlns:a16="http://schemas.microsoft.com/office/drawing/2014/main" id="{D1A08963-6AE5-1709-CAF4-2E6FA63355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127502"/>
              </p:ext>
            </p:extLst>
          </p:nvPr>
        </p:nvGraphicFramePr>
        <p:xfrm>
          <a:off x="-4904512" y="587499"/>
          <a:ext cx="6788175" cy="28320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293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8675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  <a:gridCol w="1117726">
                  <a:extLst>
                    <a:ext uri="{9D8B030D-6E8A-4147-A177-3AD203B41FA5}">
                      <a16:colId xmlns:a16="http://schemas.microsoft.com/office/drawing/2014/main" val="2233760148"/>
                    </a:ext>
                  </a:extLst>
                </a:gridCol>
              </a:tblGrid>
              <a:tr h="3516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官網10,000面額商品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額外購買次數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高手廳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1~4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或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星隨機道具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endParaRPr lang="en-US" altLang="zh-TW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10,000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</a:tbl>
          </a:graphicData>
        </a:graphic>
      </p:graphicFrame>
      <p:graphicFrame>
        <p:nvGraphicFramePr>
          <p:cNvPr id="10" name="Google Shape;439;g27098471c7d_6_0">
            <a:extLst>
              <a:ext uri="{FF2B5EF4-FFF2-40B4-BE49-F238E27FC236}">
                <a16:creationId xmlns:a16="http://schemas.microsoft.com/office/drawing/2014/main" id="{197C49D4-322E-1885-FB42-5B79A52A4F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0379402"/>
              </p:ext>
            </p:extLst>
          </p:nvPr>
        </p:nvGraphicFramePr>
        <p:xfrm>
          <a:off x="-5149133" y="3521075"/>
          <a:ext cx="7032795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64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1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1159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  <a:gridCol w="1121159">
                  <a:extLst>
                    <a:ext uri="{9D8B030D-6E8A-4147-A177-3AD203B41FA5}">
                      <a16:colId xmlns:a16="http://schemas.microsoft.com/office/drawing/2014/main" val="2029806874"/>
                    </a:ext>
                  </a:extLst>
                </a:gridCol>
              </a:tblGrid>
              <a:tr h="3516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官網3,290面額商品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額外購買次數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5~10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星隨機道具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22499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3,290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110491"/>
                  </a:ext>
                </a:extLst>
              </a:tr>
            </a:tbl>
          </a:graphicData>
        </a:graphic>
      </p:graphicFrame>
      <p:graphicFrame>
        <p:nvGraphicFramePr>
          <p:cNvPr id="11" name="Google Shape;439;g27098471c7d_6_0">
            <a:extLst>
              <a:ext uri="{FF2B5EF4-FFF2-40B4-BE49-F238E27FC236}">
                <a16:creationId xmlns:a16="http://schemas.microsoft.com/office/drawing/2014/main" id="{5DD74074-3B66-1F95-CE61-38001089E1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1266712"/>
              </p:ext>
            </p:extLst>
          </p:nvPr>
        </p:nvGraphicFramePr>
        <p:xfrm>
          <a:off x="2054072" y="-135800"/>
          <a:ext cx="6788175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17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162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  <a:gridCol w="1082162">
                  <a:extLst>
                    <a:ext uri="{9D8B030D-6E8A-4147-A177-3AD203B41FA5}">
                      <a16:colId xmlns:a16="http://schemas.microsoft.com/office/drawing/2014/main" val="282199611"/>
                    </a:ext>
                  </a:extLst>
                </a:gridCol>
              </a:tblGrid>
              <a:tr h="3516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官網1,490面額商品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額外購買次數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星隨機道具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35971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908725"/>
                  </a:ext>
                </a:extLst>
              </a:tr>
            </a:tbl>
          </a:graphicData>
        </a:graphic>
      </p:graphicFrame>
      <p:graphicFrame>
        <p:nvGraphicFramePr>
          <p:cNvPr id="12" name="Google Shape;439;g27098471c7d_6_0">
            <a:extLst>
              <a:ext uri="{FF2B5EF4-FFF2-40B4-BE49-F238E27FC236}">
                <a16:creationId xmlns:a16="http://schemas.microsoft.com/office/drawing/2014/main" id="{23C26937-D9B3-A5A1-42ED-FEE40DE7DC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4970339"/>
              </p:ext>
            </p:extLst>
          </p:nvPr>
        </p:nvGraphicFramePr>
        <p:xfrm>
          <a:off x="2054071" y="2436889"/>
          <a:ext cx="6788176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17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8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162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  <a:gridCol w="1082162">
                  <a:extLst>
                    <a:ext uri="{9D8B030D-6E8A-4147-A177-3AD203B41FA5}">
                      <a16:colId xmlns:a16="http://schemas.microsoft.com/office/drawing/2014/main" val="3153027502"/>
                    </a:ext>
                  </a:extLst>
                </a:gridCol>
              </a:tblGrid>
              <a:tr h="3516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官網500面額商品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額外購買次數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星隨機道具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7436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886816"/>
                  </a:ext>
                </a:extLst>
              </a:tr>
            </a:tbl>
          </a:graphicData>
        </a:graphic>
      </p:graphicFrame>
      <p:graphicFrame>
        <p:nvGraphicFramePr>
          <p:cNvPr id="13" name="Google Shape;439;g27098471c7d_6_0">
            <a:extLst>
              <a:ext uri="{FF2B5EF4-FFF2-40B4-BE49-F238E27FC236}">
                <a16:creationId xmlns:a16="http://schemas.microsoft.com/office/drawing/2014/main" id="{A517E997-76EE-2566-1D9D-E179A1C921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3168025"/>
              </p:ext>
            </p:extLst>
          </p:nvPr>
        </p:nvGraphicFramePr>
        <p:xfrm>
          <a:off x="2054070" y="5688675"/>
          <a:ext cx="6788176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17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3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162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  <a:gridCol w="1082162">
                  <a:extLst>
                    <a:ext uri="{9D8B030D-6E8A-4147-A177-3AD203B41FA5}">
                      <a16:colId xmlns:a16="http://schemas.microsoft.com/office/drawing/2014/main" val="2243576991"/>
                    </a:ext>
                  </a:extLst>
                </a:gridCol>
              </a:tblGrid>
              <a:tr h="3516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</a:t>
                      </a:r>
                      <a:r>
                        <a:rPr lang="en-US" altLang="zh-TW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額外購買次數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體驗廳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星隨機道具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14053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165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542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>
          <a:extLst>
            <a:ext uri="{FF2B5EF4-FFF2-40B4-BE49-F238E27FC236}">
              <a16:creationId xmlns:a16="http://schemas.microsoft.com/office/drawing/2014/main" id="{BFE0D8A8-BA28-44CC-9400-1D1B78FC5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7098471c7d_6_0">
            <a:extLst>
              <a:ext uri="{FF2B5EF4-FFF2-40B4-BE49-F238E27FC236}">
                <a16:creationId xmlns:a16="http://schemas.microsoft.com/office/drawing/2014/main" id="{F452D70C-5713-3439-1C0E-2BAD71C5CC44}"/>
              </a:ext>
            </a:extLst>
          </p:cNvPr>
          <p:cNvSpPr txBox="1"/>
          <p:nvPr/>
        </p:nvSpPr>
        <p:spPr>
          <a:xfrm>
            <a:off x="179512" y="116632"/>
            <a:ext cx="21603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儲值贈卡</a:t>
            </a:r>
            <a:r>
              <a:rPr lang="en-US" altLang="zh-TW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柏青</a:t>
            </a:r>
            <a:endParaRPr dirty="0"/>
          </a:p>
        </p:txBody>
      </p:sp>
      <p:sp>
        <p:nvSpPr>
          <p:cNvPr id="438" name="Google Shape;438;g27098471c7d_6_0">
            <a:extLst>
              <a:ext uri="{FF2B5EF4-FFF2-40B4-BE49-F238E27FC236}">
                <a16:creationId xmlns:a16="http://schemas.microsoft.com/office/drawing/2014/main" id="{E81AA1D3-1389-1BBB-6A53-01C84162EB20}"/>
              </a:ext>
            </a:extLst>
          </p:cNvPr>
          <p:cNvSpPr/>
          <p:nvPr/>
        </p:nvSpPr>
        <p:spPr>
          <a:xfrm>
            <a:off x="-2700808" y="-902264"/>
            <a:ext cx="576000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" name="Google Shape;439;g27098471c7d_6_0">
            <a:extLst>
              <a:ext uri="{FF2B5EF4-FFF2-40B4-BE49-F238E27FC236}">
                <a16:creationId xmlns:a16="http://schemas.microsoft.com/office/drawing/2014/main" id="{BC6D9148-F0FD-B417-9E4E-69CA694D7E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0741249"/>
              </p:ext>
            </p:extLst>
          </p:nvPr>
        </p:nvGraphicFramePr>
        <p:xfrm>
          <a:off x="-2700808" y="692696"/>
          <a:ext cx="6048649" cy="28320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官網10,000面額商品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6,800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高手廳確定役或全迴轉或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GOD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6,800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電信支付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6,800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6,800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6,800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6,800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6,800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</a:tbl>
          </a:graphicData>
        </a:graphic>
      </p:graphicFrame>
      <p:graphicFrame>
        <p:nvGraphicFramePr>
          <p:cNvPr id="10" name="Google Shape;439;g27098471c7d_6_0">
            <a:extLst>
              <a:ext uri="{FF2B5EF4-FFF2-40B4-BE49-F238E27FC236}">
                <a16:creationId xmlns:a16="http://schemas.microsoft.com/office/drawing/2014/main" id="{26A3CEB2-A83C-DC25-CD2A-ACA279D3B4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1533246"/>
              </p:ext>
            </p:extLst>
          </p:nvPr>
        </p:nvGraphicFramePr>
        <p:xfrm>
          <a:off x="-5149133" y="3521075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官網3,290面額商品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2,950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一般廳確定役或全迴轉或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GOD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2,950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2,950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2,950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22499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2,950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2,950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2,950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2,950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110491"/>
                  </a:ext>
                </a:extLst>
              </a:tr>
            </a:tbl>
          </a:graphicData>
        </a:graphic>
      </p:graphicFrame>
      <p:graphicFrame>
        <p:nvGraphicFramePr>
          <p:cNvPr id="11" name="Google Shape;439;g27098471c7d_6_0">
            <a:extLst>
              <a:ext uri="{FF2B5EF4-FFF2-40B4-BE49-F238E27FC236}">
                <a16:creationId xmlns:a16="http://schemas.microsoft.com/office/drawing/2014/main" id="{4E7F68F2-E3C1-14F1-B913-F0FD6EF41B4C}"/>
              </a:ext>
            </a:extLst>
          </p:cNvPr>
          <p:cNvGraphicFramePr/>
          <p:nvPr/>
        </p:nvGraphicFramePr>
        <p:xfrm>
          <a:off x="3472240" y="-594568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官網1,490面額商品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2~5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星隨機道具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35971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1,490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908725"/>
                  </a:ext>
                </a:extLst>
              </a:tr>
            </a:tbl>
          </a:graphicData>
        </a:graphic>
      </p:graphicFrame>
      <p:graphicFrame>
        <p:nvGraphicFramePr>
          <p:cNvPr id="12" name="Google Shape;439;g27098471c7d_6_0">
            <a:extLst>
              <a:ext uri="{FF2B5EF4-FFF2-40B4-BE49-F238E27FC236}">
                <a16:creationId xmlns:a16="http://schemas.microsoft.com/office/drawing/2014/main" id="{F800C1EE-D4CE-273F-DF00-473F8DCD8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3531541"/>
              </p:ext>
            </p:extLst>
          </p:nvPr>
        </p:nvGraphicFramePr>
        <p:xfrm>
          <a:off x="3472239" y="2638057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官網500面額商品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435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體驗廳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GOD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435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435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435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7436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435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435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435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435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886816"/>
                  </a:ext>
                </a:extLst>
              </a:tr>
            </a:tbl>
          </a:graphicData>
        </a:graphic>
      </p:graphicFrame>
      <p:graphicFrame>
        <p:nvGraphicFramePr>
          <p:cNvPr id="13" name="Google Shape;439;g27098471c7d_6_0">
            <a:extLst>
              <a:ext uri="{FF2B5EF4-FFF2-40B4-BE49-F238E27FC236}">
                <a16:creationId xmlns:a16="http://schemas.microsoft.com/office/drawing/2014/main" id="{8AEF8392-CA02-A4F9-B724-0A99F28A91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5825271"/>
              </p:ext>
            </p:extLst>
          </p:nvPr>
        </p:nvGraphicFramePr>
        <p:xfrm>
          <a:off x="3062852" y="5983775"/>
          <a:ext cx="6048649" cy="313610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396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44">
                  <a:extLst>
                    <a:ext uri="{9D8B030D-6E8A-4147-A177-3AD203B41FA5}">
                      <a16:colId xmlns:a16="http://schemas.microsoft.com/office/drawing/2014/main" val="2955296160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官網</a:t>
                      </a:r>
                      <a:r>
                        <a:rPr lang="en-US" altLang="zh-TW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150</a:t>
                      </a: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面額商品</a:t>
                      </a:r>
                      <a:endParaRPr sz="1200" b="1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指定通路</a:t>
                      </a:r>
                      <a:endParaRPr sz="1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獲得卡片張數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/>
                          <a:sym typeface="Calibr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銀行轉帳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體驗廳確定役或全迴轉或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GOD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次</a:t>
                      </a:r>
                      <a:b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共同累計次數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)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信用卡支付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MyCard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74286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Gash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140530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FunPay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8554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LINE 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05375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台灣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Pay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105</a:t>
                      </a:r>
                      <a:endParaRPr kumimoji="0" lang="en-US" altLang="zh-TW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3994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GGcard</a:t>
                      </a: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105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TW" altLang="en-US"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165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3190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7"/>
          <p:cNvSpPr txBox="1"/>
          <p:nvPr/>
        </p:nvSpPr>
        <p:spPr>
          <a:xfrm>
            <a:off x="-3044130" y="116632"/>
            <a:ext cx="216024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儲值贈卡-平台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47" name="Google Shape;447;p67"/>
          <p:cNvSpPr/>
          <p:nvPr/>
        </p:nvSpPr>
        <p:spPr>
          <a:xfrm>
            <a:off x="-2700808" y="-902264"/>
            <a:ext cx="576064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8" name="Google Shape;448;p67"/>
          <p:cNvGraphicFramePr/>
          <p:nvPr>
            <p:extLst>
              <p:ext uri="{D42A27DB-BD31-4B8C-83A1-F6EECF244321}">
                <p14:modId xmlns:p14="http://schemas.microsoft.com/office/powerpoint/2010/main" val="3011255757"/>
              </p:ext>
            </p:extLst>
          </p:nvPr>
        </p:nvGraphicFramePr>
        <p:xfrm>
          <a:off x="-3044130" y="692696"/>
          <a:ext cx="6912775" cy="19197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31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solidFill>
                            <a:srgbClr val="FFC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遊戲內IOS</a:t>
                      </a:r>
                      <a:r>
                        <a:rPr lang="zh-TW" altLang="en-US" sz="1200" dirty="0">
                          <a:solidFill>
                            <a:srgbClr val="FFC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sz="1200" dirty="0" err="1">
                          <a:solidFill>
                            <a:srgbClr val="FFC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安卓商城</a:t>
                      </a: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指定儲值面額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獲得卡片張數</a:t>
                      </a:r>
                      <a:endParaRPr sz="12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限定購買次數</a:t>
                      </a:r>
                      <a:endParaRPr sz="12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,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90元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3,290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5~10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星隨機道具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1,490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1,490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星隨機道具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kumimoji="0" lang="zh-TW" alt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kumimoji="0" lang="zh-TW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26873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00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星隨機道具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kumimoji="0" lang="zh-TW" alt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kumimoji="0" lang="zh-TW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150元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星隨機道具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kumimoji="0" lang="zh-TW" alt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Google Shape;446;p67">
            <a:extLst>
              <a:ext uri="{FF2B5EF4-FFF2-40B4-BE49-F238E27FC236}">
                <a16:creationId xmlns:a16="http://schemas.microsoft.com/office/drawing/2014/main" id="{85A728BC-DCE9-ABEB-41EB-00168861D33B}"/>
              </a:ext>
            </a:extLst>
          </p:cNvPr>
          <p:cNvSpPr txBox="1"/>
          <p:nvPr/>
        </p:nvSpPr>
        <p:spPr>
          <a:xfrm>
            <a:off x="-3116138" y="3059668"/>
            <a:ext cx="216024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儲值贈卡</a:t>
            </a:r>
            <a:r>
              <a:rPr 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紅紫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3" name="Google Shape;448;p67">
            <a:extLst>
              <a:ext uri="{FF2B5EF4-FFF2-40B4-BE49-F238E27FC236}">
                <a16:creationId xmlns:a16="http://schemas.microsoft.com/office/drawing/2014/main" id="{B93A1B32-A3BE-D530-F237-7346756BBF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2662995"/>
              </p:ext>
            </p:extLst>
          </p:nvPr>
        </p:nvGraphicFramePr>
        <p:xfrm>
          <a:off x="-3044130" y="3908568"/>
          <a:ext cx="6912775" cy="292834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31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6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solidFill>
                            <a:srgbClr val="FFC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遊戲內IOS</a:t>
                      </a:r>
                      <a:r>
                        <a:rPr lang="zh-TW" altLang="en-US" sz="1200" dirty="0">
                          <a:solidFill>
                            <a:srgbClr val="FFC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sz="1200" dirty="0" err="1">
                          <a:solidFill>
                            <a:srgbClr val="FFC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安卓商城</a:t>
                      </a: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指定儲值面額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獲得卡片張數</a:t>
                      </a:r>
                      <a:endParaRPr sz="12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限定購買次數</a:t>
                      </a:r>
                      <a:endParaRPr sz="12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5,000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5,000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高手廳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2~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至尊廳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星紅或紫卡</a:t>
                      </a:r>
                      <a:endParaRPr lang="zh-TW" altLang="en-US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次</a:t>
                      </a:r>
                      <a:endParaRPr sz="14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41747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,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90元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3,290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高手廳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1~5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星紅或紫卡</a:t>
                      </a:r>
                      <a:endParaRPr lang="zh-TW" altLang="en-US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次</a:t>
                      </a:r>
                      <a:endParaRPr sz="14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1,690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1,690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高手廳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1~2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星或</a:t>
                      </a:r>
                      <a:endParaRPr lang="zh-TW" altLang="en-US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一般廳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3~5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星紅或紫卡</a:t>
                      </a:r>
                      <a:endParaRPr lang="zh-TW" altLang="en-US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次</a:t>
                      </a:r>
                      <a:endParaRPr kumimoji="0" lang="zh-TW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26873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00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一般廳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~5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星紅或紫卡</a:t>
                      </a:r>
                      <a:endParaRPr lang="zh-TW" altLang="en-US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次</a:t>
                      </a:r>
                      <a:endParaRPr kumimoji="0" lang="zh-TW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350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350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一般廳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1~2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星紅或紫卡</a:t>
                      </a:r>
                      <a:endParaRPr lang="zh-TW" altLang="en-US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次</a:t>
                      </a:r>
                      <a:endParaRPr kumimoji="0" lang="zh-TW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894858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一般廳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星或</a:t>
                      </a:r>
                      <a:endParaRPr lang="zh-TW" altLang="en-US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體驗廳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4~5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星紅或紫卡</a:t>
                      </a:r>
                      <a:endParaRPr lang="zh-TW" altLang="en-US" sz="1200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次</a:t>
                      </a:r>
                      <a:endParaRPr kumimoji="0" lang="zh-TW" altLang="en-US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Google Shape;446;p67">
            <a:extLst>
              <a:ext uri="{FF2B5EF4-FFF2-40B4-BE49-F238E27FC236}">
                <a16:creationId xmlns:a16="http://schemas.microsoft.com/office/drawing/2014/main" id="{985D4882-4AC4-E857-3C33-862F9BC5436C}"/>
              </a:ext>
            </a:extLst>
          </p:cNvPr>
          <p:cNvSpPr txBox="1"/>
          <p:nvPr/>
        </p:nvSpPr>
        <p:spPr>
          <a:xfrm>
            <a:off x="3947219" y="116632"/>
            <a:ext cx="3217075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魚機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儲值贈卡-平台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增次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5" name="Google Shape;448;p67">
            <a:extLst>
              <a:ext uri="{FF2B5EF4-FFF2-40B4-BE49-F238E27FC236}">
                <a16:creationId xmlns:a16="http://schemas.microsoft.com/office/drawing/2014/main" id="{EBEE0561-2431-BE35-FCC7-42C25AAB31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4883503"/>
              </p:ext>
            </p:extLst>
          </p:nvPr>
        </p:nvGraphicFramePr>
        <p:xfrm>
          <a:off x="3947220" y="692696"/>
          <a:ext cx="7435155" cy="19197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203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8554">
                  <a:extLst>
                    <a:ext uri="{9D8B030D-6E8A-4147-A177-3AD203B41FA5}">
                      <a16:colId xmlns:a16="http://schemas.microsoft.com/office/drawing/2014/main" val="1735313168"/>
                    </a:ext>
                  </a:extLst>
                </a:gridCol>
              </a:tblGrid>
              <a:tr h="3516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solidFill>
                            <a:srgbClr val="FFC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遊戲內IOS</a:t>
                      </a:r>
                      <a:r>
                        <a:rPr lang="zh-TW" altLang="en-US" sz="1200" dirty="0">
                          <a:solidFill>
                            <a:srgbClr val="FFC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sz="1200" dirty="0" err="1">
                          <a:solidFill>
                            <a:srgbClr val="FFC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安卓商城</a:t>
                      </a: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指定儲值面額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獲得卡片張數</a:t>
                      </a:r>
                      <a:endParaRPr sz="12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額外購買次數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,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90元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3,290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5~10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星隨機道具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kumimoji="0" lang="zh-TW" alt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kumimoji="0" lang="zh-TW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1,490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1,490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星隨機道具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kumimoji="0" lang="zh-TW" alt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kumimoji="0" lang="zh-TW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kumimoji="0" lang="zh-TW" alt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kumimoji="0" lang="zh-TW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268734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00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500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星隨機道具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kumimoji="0" lang="zh-TW" alt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kumimoji="0" lang="zh-TW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kumimoji="0" lang="zh-TW" altLang="en-US" sz="12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kumimoji="0" lang="zh-TW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150元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體驗廳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星隨機道具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kumimoji="0" lang="zh-TW" alt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kumimoji="0" lang="zh-TW" alt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Google Shape;446;p67">
            <a:extLst>
              <a:ext uri="{FF2B5EF4-FFF2-40B4-BE49-F238E27FC236}">
                <a16:creationId xmlns:a16="http://schemas.microsoft.com/office/drawing/2014/main" id="{7254457F-1BB5-2BBC-3DA5-8459C8996437}"/>
              </a:ext>
            </a:extLst>
          </p:cNvPr>
          <p:cNvSpPr txBox="1"/>
          <p:nvPr/>
        </p:nvSpPr>
        <p:spPr>
          <a:xfrm>
            <a:off x="3947219" y="2852936"/>
            <a:ext cx="3217075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slot</a:t>
            </a:r>
            <a:r>
              <a:rPr lang="en-US" sz="1800" b="1" dirty="0" err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儲值贈卡-平台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增次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7" name="Google Shape;448;p67">
            <a:extLst>
              <a:ext uri="{FF2B5EF4-FFF2-40B4-BE49-F238E27FC236}">
                <a16:creationId xmlns:a16="http://schemas.microsoft.com/office/drawing/2014/main" id="{21C67E10-17F5-864B-98B6-3DD12B3104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4110990"/>
              </p:ext>
            </p:extLst>
          </p:nvPr>
        </p:nvGraphicFramePr>
        <p:xfrm>
          <a:off x="3947220" y="3429000"/>
          <a:ext cx="8092379" cy="16156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67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3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428">
                  <a:extLst>
                    <a:ext uri="{9D8B030D-6E8A-4147-A177-3AD203B41FA5}">
                      <a16:colId xmlns:a16="http://schemas.microsoft.com/office/drawing/2014/main" val="1735313168"/>
                    </a:ext>
                  </a:extLst>
                </a:gridCol>
              </a:tblGrid>
              <a:tr h="3516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solidFill>
                            <a:srgbClr val="FFC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遊戲內IOS</a:t>
                      </a:r>
                      <a:r>
                        <a:rPr lang="zh-TW" altLang="en-US" sz="1200" dirty="0">
                          <a:solidFill>
                            <a:srgbClr val="FFC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sz="1200" dirty="0" err="1">
                          <a:solidFill>
                            <a:srgbClr val="FFC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安卓商城</a:t>
                      </a: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FFC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指定儲值面額</a:t>
                      </a:r>
                      <a:endParaRPr sz="1200" b="1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可獲得</a:t>
                      </a: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點數</a:t>
                      </a:r>
                      <a:endParaRPr sz="1200" b="1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獲得卡片張數</a:t>
                      </a:r>
                      <a:endParaRPr sz="12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獲得卡片範圍</a:t>
                      </a:r>
                      <a:endParaRPr sz="1200" b="1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限定購買次數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額外購買次數</a:t>
                      </a:r>
                      <a:endParaRPr sz="1200" b="1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,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90元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3,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40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高手廳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星黃卡或紅卡或紫卡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kumimoji="0" lang="zh-TW" alt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670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67</a:t>
                      </a: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2~5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星或黃或紅或紫卡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kumimoji="0" lang="zh-TW" alt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kumimoji="0" lang="zh-TW" alt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150元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150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1張</a:t>
                      </a:r>
                      <a:endParaRPr sz="12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一般廳</a:t>
                      </a:r>
                      <a:r>
                        <a:rPr lang="en-US" altLang="zh-TW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lang="zh-TW" altLang="en-US" sz="12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星黃或紅或紫卡</a:t>
                      </a:r>
                      <a:endParaRPr sz="1200" b="1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r>
                        <a:rPr kumimoji="0" lang="zh-TW" alt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r>
                        <a:rPr kumimoji="0" lang="zh-TW" altLang="en-US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次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7"/>
          <p:cNvSpPr txBox="1"/>
          <p:nvPr/>
        </p:nvSpPr>
        <p:spPr>
          <a:xfrm>
            <a:off x="179512" y="116632"/>
            <a:ext cx="216024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柏青贏分榜</a:t>
            </a:r>
            <a:r>
              <a:rPr lang="en-US" altLang="zh-TW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傳奇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47" name="Google Shape;447;p67"/>
          <p:cNvSpPr/>
          <p:nvPr/>
        </p:nvSpPr>
        <p:spPr>
          <a:xfrm>
            <a:off x="-2700808" y="-902264"/>
            <a:ext cx="576064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8" name="Google Shape;448;p67"/>
          <p:cNvGraphicFramePr/>
          <p:nvPr>
            <p:extLst>
              <p:ext uri="{D42A27DB-BD31-4B8C-83A1-F6EECF244321}">
                <p14:modId xmlns:p14="http://schemas.microsoft.com/office/powerpoint/2010/main" val="828379072"/>
              </p:ext>
            </p:extLst>
          </p:nvPr>
        </p:nvGraphicFramePr>
        <p:xfrm>
          <a:off x="251520" y="692696"/>
          <a:ext cx="6912774" cy="261366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52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3306771233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cap="all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排名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cap="all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傳奇廳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cap="all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至尊廳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cap="all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高手廳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cap="all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一般廳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cap="all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</a:rPr>
                        <a:t>體驗廳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5,000,000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2,000,000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1,000,000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200,000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50,000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2,500,000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1,000,000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26873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1,000,000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400,000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150,000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50,000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10,000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4-10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200,000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639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11-20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300,000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120327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21-30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12,500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3,000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930604"/>
                  </a:ext>
                </a:extLst>
              </a:tr>
            </a:tbl>
          </a:graphicData>
        </a:graphic>
      </p:graphicFrame>
      <p:sp>
        <p:nvSpPr>
          <p:cNvPr id="5" name="Google Shape;446;p67">
            <a:extLst>
              <a:ext uri="{FF2B5EF4-FFF2-40B4-BE49-F238E27FC236}">
                <a16:creationId xmlns:a16="http://schemas.microsoft.com/office/drawing/2014/main" id="{2B26A7B0-ED67-418F-8157-567A2A818E2E}"/>
              </a:ext>
            </a:extLst>
          </p:cNvPr>
          <p:cNvSpPr txBox="1"/>
          <p:nvPr/>
        </p:nvSpPr>
        <p:spPr>
          <a:xfrm>
            <a:off x="179512" y="3632189"/>
            <a:ext cx="2160240" cy="3692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柏青高設定</a:t>
            </a:r>
            <a:r>
              <a:rPr lang="en-US" altLang="zh-TW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</a:t>
            </a:r>
            <a:r>
              <a:rPr lang="zh-TW" altLang="en-US" sz="1800" b="1" dirty="0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傳奇</a:t>
            </a:r>
            <a:endParaRPr sz="1800" b="1" dirty="0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6" name="Google Shape;448;p67">
            <a:extLst>
              <a:ext uri="{FF2B5EF4-FFF2-40B4-BE49-F238E27FC236}">
                <a16:creationId xmlns:a16="http://schemas.microsoft.com/office/drawing/2014/main" id="{3FAA07FE-2E9D-4E5D-AC1A-DEFD31B1D9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2730456"/>
              </p:ext>
            </p:extLst>
          </p:nvPr>
        </p:nvGraphicFramePr>
        <p:xfrm>
          <a:off x="251520" y="4262333"/>
          <a:ext cx="3456387" cy="224028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152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cap="all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廳館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cap="all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活動機台數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cap="all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高設定機台數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傳奇廳</a:t>
                      </a:r>
                      <a:endParaRPr lang="en-US" altLang="zh-TW" sz="1200" b="1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至尊廳</a:t>
                      </a:r>
                      <a:endParaRPr lang="en-US" altLang="zh-TW" sz="1200" b="1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26873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高手廳</a:t>
                      </a:r>
                      <a:endParaRPr lang="en-US" altLang="zh-TW" sz="1200" b="1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125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一般廳</a:t>
                      </a:r>
                      <a:endParaRPr lang="en-US" altLang="zh-TW" sz="1200" b="1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639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體驗廳</a:t>
                      </a:r>
                      <a:endParaRPr lang="en-US" altLang="zh-TW" sz="1200" b="1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120327"/>
                  </a:ext>
                </a:extLst>
              </a:tr>
            </a:tbl>
          </a:graphicData>
        </a:graphic>
      </p:graphicFrame>
      <p:graphicFrame>
        <p:nvGraphicFramePr>
          <p:cNvPr id="2" name="Google Shape;448;p67">
            <a:extLst>
              <a:ext uri="{FF2B5EF4-FFF2-40B4-BE49-F238E27FC236}">
                <a16:creationId xmlns:a16="http://schemas.microsoft.com/office/drawing/2014/main" id="{C908986D-711A-BF3F-F9A0-FBFBA99DAB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0083785"/>
              </p:ext>
            </p:extLst>
          </p:nvPr>
        </p:nvGraphicFramePr>
        <p:xfrm>
          <a:off x="4086223" y="3513088"/>
          <a:ext cx="5581651" cy="161290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2009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2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01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cap="all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活動週次</a:t>
                      </a:r>
                    </a:p>
                  </a:txBody>
                  <a:tcPr marL="47625" marR="47625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cap="all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中獎名單公布時間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cap="all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獎勵</a:t>
                      </a:r>
                    </a:p>
                  </a:txBody>
                  <a:tcPr marL="47625" marR="47625" marT="95250" marB="9525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4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6/15 12:00 ~ 6/21 23:59</a:t>
                      </a:r>
                      <a:endParaRPr lang="zh-TW" altLang="en-US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6/22 18:00</a:t>
                      </a:r>
                      <a:endParaRPr lang="zh-TW" altLang="en-US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火神赫菲斯 極威卡</a:t>
                      </a:r>
                      <a:endParaRPr lang="zh-TW" altLang="en-US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4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6/22 00:00 ~ 6/28 23:59</a:t>
                      </a:r>
                      <a:endParaRPr lang="zh-TW" altLang="en-US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6/29 18:00</a:t>
                      </a:r>
                      <a:endParaRPr lang="zh-TW" altLang="en-US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雷神索爾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2-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雷霆萬鈞 極威卡</a:t>
                      </a:r>
                      <a:endParaRPr lang="zh-TW" altLang="en-US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268734"/>
                  </a:ext>
                </a:extLst>
              </a:tr>
              <a:tr h="2074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6/29 00:00 ~ 7/5 23:59</a:t>
                      </a:r>
                      <a:endParaRPr lang="zh-TW" altLang="en-US" b="1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7/6 18:00</a:t>
                      </a:r>
                      <a:endParaRPr lang="zh-TW" altLang="en-US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雷神索爾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2-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雷霆萬鈞 極威卡</a:t>
                      </a:r>
                      <a:endParaRPr lang="zh-TW" altLang="en-US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49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7/6 00:00 ~ 7/12 23:59</a:t>
                      </a:r>
                      <a:endParaRPr lang="zh-TW" altLang="en-US" b="1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7/13 18:00</a:t>
                      </a:r>
                      <a:endParaRPr lang="zh-TW" altLang="en-US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雷神索爾</a:t>
                      </a: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2-</a:t>
                      </a:r>
                      <a:r>
                        <a:rPr lang="zh-TW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雷霆萬鈞 極威卡</a:t>
                      </a:r>
                      <a:endParaRPr lang="zh-TW" altLang="en-US" b="1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5970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eb6c6281a2_0_0"/>
          <p:cNvSpPr txBox="1"/>
          <p:nvPr/>
        </p:nvSpPr>
        <p:spPr>
          <a:xfrm>
            <a:off x="420837" y="368007"/>
            <a:ext cx="21603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兌換升級(烤肉)</a:t>
            </a:r>
            <a:endParaRPr sz="1800" b="1">
              <a:solidFill>
                <a:srgbClr val="FFFF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55" name="Google Shape;455;g2eb6c6281a2_0_0"/>
          <p:cNvSpPr/>
          <p:nvPr/>
        </p:nvSpPr>
        <p:spPr>
          <a:xfrm>
            <a:off x="-2700808" y="-902264"/>
            <a:ext cx="576000" cy="1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6" name="Google Shape;456;g2eb6c6281a2_0_0"/>
          <p:cNvGraphicFramePr/>
          <p:nvPr/>
        </p:nvGraphicFramePr>
        <p:xfrm>
          <a:off x="1728817" y="1361696"/>
          <a:ext cx="5686350" cy="4577050"/>
        </p:xfrm>
        <a:graphic>
          <a:graphicData uri="http://schemas.openxmlformats.org/drawingml/2006/table">
            <a:tbl>
              <a:tblPr firstRow="1" firstCol="1" bandRow="1">
                <a:noFill/>
                <a:tableStyleId>{9C472437-90DF-4266-8D30-FEE34006E03D}</a:tableStyleId>
              </a:tblPr>
              <a:tblGrid>
                <a:gridCol w="1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endParaRPr sz="14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icrosoft JhengHei"/>
                        <a:buNone/>
                      </a:pPr>
                      <a:r>
                        <a:rPr lang="en-US" sz="17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烤肉新手</a:t>
                      </a:r>
                      <a:endParaRPr sz="17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烤肉專家</a:t>
                      </a:r>
                      <a:endParaRPr sz="17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烤肉大師</a:t>
                      </a:r>
                      <a:endParaRPr sz="17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極品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20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</a:t>
                      </a:r>
                      <a:endParaRPr sz="20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</a:t>
                      </a:r>
                      <a:endParaRPr sz="20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完美</a:t>
                      </a:r>
                      <a:endParaRPr sz="1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</a:t>
                      </a:r>
                      <a:endParaRPr sz="20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</a:t>
                      </a:r>
                      <a:endParaRPr sz="20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</a:t>
                      </a:r>
                      <a:endParaRPr sz="20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良好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</a:t>
                      </a:r>
                      <a:endParaRPr sz="20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</a:t>
                      </a:r>
                      <a:endParaRPr sz="20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</a:t>
                      </a:r>
                      <a:endParaRPr sz="20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5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icrosoft JhengHe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普通</a:t>
                      </a:r>
                      <a:endParaRPr sz="200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</a:t>
                      </a:r>
                      <a:endParaRPr sz="20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</a:t>
                      </a:r>
                      <a:endParaRPr sz="20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20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5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過熟</a:t>
                      </a:r>
                      <a:endParaRPr sz="18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</a:t>
                      </a:r>
                      <a:endParaRPr sz="18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8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800" b="1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D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457" name="Google Shape;457;g2eb6c6281a2_0_0"/>
          <p:cNvCxnSpPr/>
          <p:nvPr/>
        </p:nvCxnSpPr>
        <p:spPr>
          <a:xfrm>
            <a:off x="1732650" y="1366750"/>
            <a:ext cx="1284000" cy="634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8" name="Google Shape;458;g2eb6c6281a2_0_0"/>
          <p:cNvSpPr txBox="1"/>
          <p:nvPr/>
        </p:nvSpPr>
        <p:spPr>
          <a:xfrm>
            <a:off x="2301075" y="1327296"/>
            <a:ext cx="7140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稱號</a:t>
            </a:r>
            <a:endParaRPr sz="17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2eb6c6281a2_0_0"/>
          <p:cNvSpPr txBox="1"/>
          <p:nvPr/>
        </p:nvSpPr>
        <p:spPr>
          <a:xfrm>
            <a:off x="1728825" y="1589000"/>
            <a:ext cx="7140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品質</a:t>
            </a:r>
            <a:endParaRPr sz="17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120606</TotalTime>
  <Words>6495</Words>
  <Application>Microsoft Office PowerPoint</Application>
  <PresentationFormat>如螢幕大小 (4:3)</PresentationFormat>
  <Paragraphs>3163</Paragraphs>
  <Slides>47</Slides>
  <Notes>47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47</vt:i4>
      </vt:variant>
    </vt:vector>
  </HeadingPairs>
  <TitlesOfParts>
    <vt:vector size="53" baseType="lpstr">
      <vt:lpstr>微軟正黑體</vt:lpstr>
      <vt:lpstr>微軟正黑體</vt:lpstr>
      <vt:lpstr>Arial</vt:lpstr>
      <vt:lpstr>Calibri</vt:lpstr>
      <vt:lpstr>Verdana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劉欣枚</dc:creator>
  <cp:lastModifiedBy>Duck Duck</cp:lastModifiedBy>
  <cp:revision>38</cp:revision>
  <dcterms:created xsi:type="dcterms:W3CDTF">2019-03-25T02:50:47Z</dcterms:created>
  <dcterms:modified xsi:type="dcterms:W3CDTF">2026-07-06T01:55:31Z</dcterms:modified>
</cp:coreProperties>
</file>